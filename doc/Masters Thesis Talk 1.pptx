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708" r:id="rId1"/>
  </p:sldMasterIdLst>
  <p:notesMasterIdLst>
    <p:notesMasterId r:id="rId34"/>
  </p:notesMasterIdLst>
  <p:sldIdLst>
    <p:sldId id="256" r:id="rId2"/>
    <p:sldId id="276" r:id="rId3"/>
    <p:sldId id="266" r:id="rId4"/>
    <p:sldId id="277" r:id="rId5"/>
    <p:sldId id="278" r:id="rId6"/>
    <p:sldId id="279" r:id="rId7"/>
    <p:sldId id="302" r:id="rId8"/>
    <p:sldId id="303" r:id="rId9"/>
    <p:sldId id="304" r:id="rId10"/>
    <p:sldId id="305" r:id="rId11"/>
    <p:sldId id="306" r:id="rId12"/>
    <p:sldId id="280" r:id="rId13"/>
    <p:sldId id="307" r:id="rId14"/>
    <p:sldId id="281" r:id="rId15"/>
    <p:sldId id="301" r:id="rId16"/>
    <p:sldId id="282" r:id="rId17"/>
    <p:sldId id="312" r:id="rId18"/>
    <p:sldId id="313" r:id="rId19"/>
    <p:sldId id="283" r:id="rId20"/>
    <p:sldId id="284" r:id="rId21"/>
    <p:sldId id="314" r:id="rId22"/>
    <p:sldId id="315" r:id="rId23"/>
    <p:sldId id="308" r:id="rId24"/>
    <p:sldId id="309" r:id="rId25"/>
    <p:sldId id="316" r:id="rId26"/>
    <p:sldId id="317" r:id="rId27"/>
    <p:sldId id="310" r:id="rId28"/>
    <p:sldId id="311" r:id="rId29"/>
    <p:sldId id="318" r:id="rId30"/>
    <p:sldId id="319" r:id="rId31"/>
    <p:sldId id="285" r:id="rId32"/>
    <p:sldId id="300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ity\Downloads\FAU\Thesis\Scalable%20efficienc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Scalable Efficiency of DisCostiC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Improved Simulation time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100</c:v>
                </c:pt>
                <c:pt idx="1">
                  <c:v>1000</c:v>
                </c:pt>
                <c:pt idx="2">
                  <c:v>10000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1.6E-2</c:v>
                </c:pt>
                <c:pt idx="1">
                  <c:v>1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2-4EAD-BBF4-660CC370DA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Previous Simulation time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Sheet1!$C$2:$C$4</c:f>
              <c:numCache>
                <c:formatCode>General</c:formatCode>
                <c:ptCount val="3"/>
                <c:pt idx="0">
                  <c:v>180</c:v>
                </c:pt>
                <c:pt idx="1">
                  <c:v>560</c:v>
                </c:pt>
                <c:pt idx="2">
                  <c:v>1440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E2-4EAD-BBF4-660CC370DA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Actual application time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Sheet1!$D$2:$D$4</c:f>
              <c:numCache>
                <c:formatCode>General</c:formatCode>
                <c:ptCount val="3"/>
                <c:pt idx="0">
                  <c:v>0.16</c:v>
                </c:pt>
                <c:pt idx="1">
                  <c:v>1.02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E2-4EAD-BBF4-660CC370DA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86737072"/>
        <c:axId val="1789021488"/>
      </c:barChart>
      <c:catAx>
        <c:axId val="17867370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# iterations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9021488"/>
        <c:crosses val="autoZero"/>
        <c:auto val="1"/>
        <c:lblAlgn val="ctr"/>
        <c:lblOffset val="100"/>
        <c:noMultiLvlLbl val="0"/>
      </c:catAx>
      <c:valAx>
        <c:axId val="178902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mins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73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E55A-97EB-4F80-A849-C41770BD2C14}" type="datetimeFigureOut">
              <a:rPr lang="de-DE" smtClean="0"/>
              <a:t>26.11.2023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6F125-2ACC-4C68-904A-C8C8A161212C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607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6F125-2ACC-4C68-904A-C8C8A161212C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6F125-2ACC-4C68-904A-C8C8A161212C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0370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6F125-2ACC-4C68-904A-C8C8A161212C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460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7653-A8BD-FD2F-2D3E-23EB9F673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F3E29-7B60-6A85-7B15-37A9C1F0B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67BE0-2411-68A8-3A97-95C17A84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ED79-2ABD-4422-AABF-54635F8D9B7D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9FDC-6F8F-88A7-481D-1F5E73E0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58F3C-C3BD-DB9A-7261-3DC9DFC0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358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5B763-4715-EF98-30A9-AFF800D8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53FF1-9700-6CBF-029C-89ECFF6F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DBC6-AAC1-0B39-2AE4-1F029E9B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AB55-664F-4260-BAF2-9454CAF428BA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DC00F-3293-7A27-F2EB-D436294C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B5FDA-3A20-E41A-A790-F92934F4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930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3293-5671-D096-07E3-D3182B39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B0478-FAB0-85F4-8361-3B15FD16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F99C-C2E4-3AA8-46D5-9706575A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93443-C0DF-4F4C-9D0E-064E6ACE56C1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92C31-A649-9106-8D18-25F8D96E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1A3F1-C402-0809-3A78-B5336415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516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739D-5992-AB62-D77C-21A710F9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766A-F0A0-CFA8-3B6A-CADA183AE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DB81F-2636-38BF-0208-36B95B702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317AE-9DAE-C4C8-0D45-5997D672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708B0-B08A-49CB-BA66-E6D0EE437CF7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7533A-1AEC-1FEB-B4E7-67B44D4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73766-2E3F-E357-2E49-D1CD22E9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315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6C11-9EAE-AD89-74C7-F85385F8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CBE35-739F-FFA9-F9F6-BAFEFDEC2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3626A-B872-2203-2BDF-16118EF3B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85070-6752-D4A9-CDF3-76EC60767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270D2-B477-EB37-D86E-38E63EBD4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A6437-2E2D-A181-3B65-BCC84164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A9DB9-F0A0-4F59-AD70-12B7C6386A7D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7A9B0-86B7-9E82-26A7-0D898546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1ACDD-E205-63F9-0D4B-A160CAC7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710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1CFE-9D0E-7CB2-4AA9-E430901A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40382-6854-5C85-5053-8177C66C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C8C4-9CED-4AF9-98AD-A7DCA45C3BD1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8F458-438B-A210-8ACB-6412F1D3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F4546-7FEC-14DE-980F-2E3592A1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213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2F6FC-C219-1BE2-0DF0-CB3C9B9B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D5446-0F41-4255-95BD-DB00C1073CF5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9E491A-48D0-EDE5-3AAF-FF6EC147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9F65E-4C1B-1378-CF86-0B765CAD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981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39A6-5270-226B-4997-261E110A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9827-E5B8-6A9B-B4F8-5EA44C933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4DD54-024D-48CF-02A0-4B33611F9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AF9A0-C0E0-99F0-1692-CE577F30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00680-06D9-4E87-A622-428178AC2293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97CA7-84F4-69CF-EFFA-47846EC0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E3FC1-B59E-FD06-96BE-185BB5C1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0475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E41E-162D-5212-C345-9A67A03C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EEB17-F3DD-23C1-4F89-E2B139462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CBC97-0105-3650-07D4-9DFF4BBF0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6A826-C067-D934-05DF-D24B09E7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BDF7-C62B-4001-973F-DC9824858188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3548C-8D39-9D71-0A44-54F5DEF8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8C985-3230-85ED-A5F2-1D3E5300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978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1B7A-C08D-CC9A-4973-32DE833C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B2CB4-ECCA-ED9D-D2F4-AAFAC083E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C7C5F-6408-668F-BD28-5748EA66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2DBB-1C77-4122-A218-20C8052B7898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B602-B6D6-A0D2-0172-1E3FB67B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74AF5-072D-F09C-6886-1A115A96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219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A6F65-E075-47ED-78E3-FD085830D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8738E-C4A9-7AC2-1EC8-B88393D22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28134-C8E1-A89F-CE96-F32B5D24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48AF5-B025-417B-8CE8-119AF60D0E12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BA996-30D2-6661-1551-F37E7C4B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F0422-A7E4-E767-665B-6AD5FBC8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49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0B323-D888-7F1B-A350-99F0D969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E8223-A108-F86B-7F5C-AD96D867A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E2956-E9D5-DC09-A042-181EA86B8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2BA8F-434D-44AD-947B-6BB8E1CAAB05}" type="datetime1">
              <a:rPr lang="de-DE" smtClean="0"/>
              <a:t>26.11.2023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C93A6-1C12-A8A8-8DF1-566ABC5F4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15B10-2A7C-4E03-3758-C2ABD7FA5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E478D-9561-4C4E-917C-DA2D35FD197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17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BF60-93F5-25F2-A79C-7E750605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3752"/>
            <a:ext cx="9144000" cy="94850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Extending a Simulation Framework for Performance Assessment of Parallel Applications</a:t>
            </a:r>
            <a:endParaRPr lang="de-D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A38B4-3737-8B08-0AE4-B40651D10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4882" y="2906564"/>
            <a:ext cx="7543800" cy="465727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Aditya Ujeniya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03BA3-613B-FC41-F7AE-BB82FFB41D63}"/>
              </a:ext>
            </a:extLst>
          </p:cNvPr>
          <p:cNvSpPr txBox="1">
            <a:spLocks/>
          </p:cNvSpPr>
          <p:nvPr/>
        </p:nvSpPr>
        <p:spPr>
          <a:xfrm>
            <a:off x="2346960" y="2403796"/>
            <a:ext cx="7543800" cy="50763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DE" sz="3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F2F9AAD-EB2B-72A6-5D50-DCBDEB4826D1}"/>
              </a:ext>
            </a:extLst>
          </p:cNvPr>
          <p:cNvSpPr txBox="1">
            <a:spLocks/>
          </p:cNvSpPr>
          <p:nvPr/>
        </p:nvSpPr>
        <p:spPr>
          <a:xfrm>
            <a:off x="2346960" y="3382525"/>
            <a:ext cx="7543800" cy="33544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50" dirty="0">
                <a:latin typeface="CMS"/>
              </a:rPr>
              <a:t>11</a:t>
            </a:r>
            <a:r>
              <a:rPr lang="en-US" sz="1650" baseline="30000" dirty="0">
                <a:latin typeface="CMS"/>
              </a:rPr>
              <a:t>th</a:t>
            </a:r>
            <a:r>
              <a:rPr lang="en-US" sz="1650" dirty="0">
                <a:latin typeface="CMS"/>
              </a:rPr>
              <a:t> </a:t>
            </a:r>
            <a:r>
              <a:rPr lang="en-US" sz="1650" dirty="0">
                <a:latin typeface="CMS"/>
                <a:ea typeface="Microsoft Himalaya" panose="01010100010101010101" pitchFamily="2" charset="0"/>
                <a:cs typeface="Microsoft Himalaya" panose="01010100010101010101" pitchFamily="2" charset="0"/>
              </a:rPr>
              <a:t>DEC</a:t>
            </a:r>
            <a:r>
              <a:rPr lang="en-US" sz="1650" dirty="0">
                <a:latin typeface="CMS"/>
              </a:rPr>
              <a:t> 2023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2595F8-5476-7CF3-15E4-40444B00C678}"/>
              </a:ext>
            </a:extLst>
          </p:cNvPr>
          <p:cNvSpPr txBox="1">
            <a:spLocks/>
          </p:cNvSpPr>
          <p:nvPr/>
        </p:nvSpPr>
        <p:spPr>
          <a:xfrm>
            <a:off x="2344882" y="3717966"/>
            <a:ext cx="7543800" cy="44310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100" dirty="0"/>
              <a:t>With acknowledgements to Ayesha Afzal</a:t>
            </a:r>
            <a:endParaRPr lang="de-DE" sz="21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CB6E98-52A0-345B-16FE-BAC73EA291A0}"/>
              </a:ext>
            </a:extLst>
          </p:cNvPr>
          <p:cNvCxnSpPr/>
          <p:nvPr/>
        </p:nvCxnSpPr>
        <p:spPr>
          <a:xfrm>
            <a:off x="105747" y="4381371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2" descr="Image">
            <a:extLst>
              <a:ext uri="{FF2B5EF4-FFF2-40B4-BE49-F238E27FC236}">
                <a16:creationId xmlns:a16="http://schemas.microsoft.com/office/drawing/2014/main" id="{9CB91477-D556-08BA-AF1E-068275DCD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852" y="4877886"/>
            <a:ext cx="3382296" cy="1529682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85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Objectives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90DE4D-0854-BE6E-BDD1-5AA7AB426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938378"/>
            <a:ext cx="11131421" cy="51638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de-DE" dirty="0"/>
              <a:t>Intro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DisCostiC</a:t>
            </a:r>
            <a:r>
              <a:rPr lang="de-DE" dirty="0"/>
              <a:t> and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Framework </a:t>
            </a:r>
            <a:r>
              <a:rPr lang="de-DE" dirty="0" err="1"/>
              <a:t>modifications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Performance Analysis</a:t>
            </a:r>
          </a:p>
          <a:p>
            <a:pPr>
              <a:lnSpc>
                <a:spcPct val="120000"/>
              </a:lnSpc>
            </a:pPr>
            <a:r>
              <a:rPr lang="de-DE" dirty="0" err="1"/>
              <a:t>Conclusion</a:t>
            </a: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Motivation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3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5E8C75-A862-FCC4-2847-A2192F297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938378"/>
            <a:ext cx="11131421" cy="51638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de-DE" dirty="0" err="1"/>
              <a:t>Studying</a:t>
            </a:r>
            <a:r>
              <a:rPr lang="de-DE" dirty="0"/>
              <a:t> </a:t>
            </a:r>
            <a:r>
              <a:rPr lang="de-DE" dirty="0" err="1"/>
              <a:t>various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 of </a:t>
            </a:r>
            <a:r>
              <a:rPr lang="de-DE" dirty="0" err="1"/>
              <a:t>noise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Large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time and </a:t>
            </a:r>
            <a:r>
              <a:rPr lang="de-DE" dirty="0" err="1"/>
              <a:t>resources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r>
              <a:rPr lang="de-DE" dirty="0"/>
              <a:t>Not so time and </a:t>
            </a:r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efficient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r>
              <a:rPr lang="de-DE" dirty="0" err="1"/>
              <a:t>DisCostiC</a:t>
            </a:r>
            <a:r>
              <a:rPr lang="de-DE" dirty="0"/>
              <a:t> </a:t>
            </a:r>
            <a:r>
              <a:rPr lang="de-DE" dirty="0" err="1"/>
              <a:t>offers</a:t>
            </a:r>
            <a:r>
              <a:rPr lang="de-DE" dirty="0"/>
              <a:t> </a:t>
            </a:r>
            <a:r>
              <a:rPr lang="de-DE" dirty="0" err="1"/>
              <a:t>accurate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of large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A3EC9C-F85B-BC2A-2DFD-826D4F290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76" y="938378"/>
            <a:ext cx="1969212" cy="811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0E74F9-4654-C8E3-57FE-72BB302DB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973726"/>
            <a:ext cx="2362405" cy="12421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F9F08E-C4BF-385C-4DF4-89A2E3E25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684" y="3334995"/>
            <a:ext cx="2085724" cy="1042862"/>
          </a:xfrm>
          <a:prstGeom prst="rect">
            <a:avLst/>
          </a:prstGeom>
        </p:spPr>
      </p:pic>
      <p:pic>
        <p:nvPicPr>
          <p:cNvPr id="5124" name="Picture 4" descr="Accuracy vs Precision: Differences &amp; Examples - Statistics By Jim">
            <a:extLst>
              <a:ext uri="{FF2B5EF4-FFF2-40B4-BE49-F238E27FC236}">
                <a16:creationId xmlns:a16="http://schemas.microsoft.com/office/drawing/2014/main" id="{6C7AB2D1-0832-03F9-DE6E-A59E0B495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4629607"/>
            <a:ext cx="1106649" cy="107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35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DisCostiC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4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94533BF1-B5D8-D359-5089-B27E62A4A672}"/>
              </a:ext>
            </a:extLst>
          </p:cNvPr>
          <p:cNvSpPr txBox="1">
            <a:spLocks/>
          </p:cNvSpPr>
          <p:nvPr/>
        </p:nvSpPr>
        <p:spPr>
          <a:xfrm>
            <a:off x="1764276" y="2669455"/>
            <a:ext cx="1691148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Performance Modelling</a:t>
            </a:r>
            <a:endParaRPr lang="de-DE" sz="20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64C4914-2D18-3652-1C21-89D4BC7F4C0F}"/>
              </a:ext>
            </a:extLst>
          </p:cNvPr>
          <p:cNvSpPr txBox="1">
            <a:spLocks/>
          </p:cNvSpPr>
          <p:nvPr/>
        </p:nvSpPr>
        <p:spPr>
          <a:xfrm>
            <a:off x="8465575" y="2669455"/>
            <a:ext cx="1887793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Communication Modelling</a:t>
            </a:r>
            <a:endParaRPr lang="de-DE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1C24AB-387E-AC73-7452-7D59496F6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4176616"/>
            <a:ext cx="2857500" cy="495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09AEA0-D543-8D9E-1140-AFA4551A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95" y="5451514"/>
            <a:ext cx="1740310" cy="823928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7CC4190-2075-903B-9DB1-BA2EB5F699BB}"/>
              </a:ext>
            </a:extLst>
          </p:cNvPr>
          <p:cNvSpPr txBox="1">
            <a:spLocks/>
          </p:cNvSpPr>
          <p:nvPr/>
        </p:nvSpPr>
        <p:spPr>
          <a:xfrm>
            <a:off x="6774427" y="4306073"/>
            <a:ext cx="1691148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/>
              <a:t>LogGP</a:t>
            </a:r>
            <a:endParaRPr lang="de-DE" sz="32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476BC73-3C0F-719A-B2BB-4042307A7A4C}"/>
              </a:ext>
            </a:extLst>
          </p:cNvPr>
          <p:cNvSpPr txBox="1">
            <a:spLocks/>
          </p:cNvSpPr>
          <p:nvPr/>
        </p:nvSpPr>
        <p:spPr>
          <a:xfrm>
            <a:off x="10181300" y="4302683"/>
            <a:ext cx="1691148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Hockney</a:t>
            </a:r>
            <a:endParaRPr lang="de-DE" sz="3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71EF64-63E4-7548-69C4-16614CF96AA4}"/>
              </a:ext>
            </a:extLst>
          </p:cNvPr>
          <p:cNvCxnSpPr>
            <a:cxnSpLocks/>
          </p:cNvCxnSpPr>
          <p:nvPr/>
        </p:nvCxnSpPr>
        <p:spPr>
          <a:xfrm>
            <a:off x="2609850" y="4778474"/>
            <a:ext cx="0" cy="55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A186FA-20F0-BBF1-6E3D-18983A7A3E33}"/>
              </a:ext>
            </a:extLst>
          </p:cNvPr>
          <p:cNvCxnSpPr>
            <a:cxnSpLocks/>
          </p:cNvCxnSpPr>
          <p:nvPr/>
        </p:nvCxnSpPr>
        <p:spPr>
          <a:xfrm>
            <a:off x="2609850" y="3192366"/>
            <a:ext cx="0" cy="848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BDA159-8166-DA3F-71BA-FCDABE123B13}"/>
              </a:ext>
            </a:extLst>
          </p:cNvPr>
          <p:cNvCxnSpPr>
            <a:cxnSpLocks/>
          </p:cNvCxnSpPr>
          <p:nvPr/>
        </p:nvCxnSpPr>
        <p:spPr>
          <a:xfrm flipV="1">
            <a:off x="7620001" y="3721832"/>
            <a:ext cx="3431455" cy="11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F486F1-EBFC-E19B-3C63-D03F0B5BCCD6}"/>
              </a:ext>
            </a:extLst>
          </p:cNvPr>
          <p:cNvCxnSpPr>
            <a:cxnSpLocks/>
          </p:cNvCxnSpPr>
          <p:nvPr/>
        </p:nvCxnSpPr>
        <p:spPr>
          <a:xfrm>
            <a:off x="9409471" y="3192366"/>
            <a:ext cx="0" cy="541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A14B24-FFD6-408D-C280-A22CAA33CC83}"/>
              </a:ext>
            </a:extLst>
          </p:cNvPr>
          <p:cNvCxnSpPr>
            <a:endCxn id="17" idx="0"/>
          </p:cNvCxnSpPr>
          <p:nvPr/>
        </p:nvCxnSpPr>
        <p:spPr>
          <a:xfrm>
            <a:off x="7620001" y="3733797"/>
            <a:ext cx="0" cy="5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B8D0E3-9E7D-C330-13F0-2F9FBECA67E3}"/>
              </a:ext>
            </a:extLst>
          </p:cNvPr>
          <p:cNvCxnSpPr>
            <a:cxnSpLocks/>
          </p:cNvCxnSpPr>
          <p:nvPr/>
        </p:nvCxnSpPr>
        <p:spPr>
          <a:xfrm>
            <a:off x="11056370" y="3728777"/>
            <a:ext cx="0" cy="573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6F9970-C561-51B4-06B9-DB5C183CF95A}"/>
              </a:ext>
            </a:extLst>
          </p:cNvPr>
          <p:cNvCxnSpPr/>
          <p:nvPr/>
        </p:nvCxnSpPr>
        <p:spPr>
          <a:xfrm>
            <a:off x="2609850" y="2182758"/>
            <a:ext cx="67258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B36DBDE-CA17-8EDE-0BB2-4AAEBDD9D11D}"/>
              </a:ext>
            </a:extLst>
          </p:cNvPr>
          <p:cNvCxnSpPr>
            <a:cxnSpLocks/>
          </p:cNvCxnSpPr>
          <p:nvPr/>
        </p:nvCxnSpPr>
        <p:spPr>
          <a:xfrm>
            <a:off x="2609850" y="2182758"/>
            <a:ext cx="0" cy="35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08AC435-2628-F416-DBF9-A63CA5879144}"/>
              </a:ext>
            </a:extLst>
          </p:cNvPr>
          <p:cNvCxnSpPr/>
          <p:nvPr/>
        </p:nvCxnSpPr>
        <p:spPr>
          <a:xfrm>
            <a:off x="9335728" y="2182758"/>
            <a:ext cx="0" cy="35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FA5F7E-598F-EA73-4022-EFE6C5D50D2A}"/>
              </a:ext>
            </a:extLst>
          </p:cNvPr>
          <p:cNvCxnSpPr/>
          <p:nvPr/>
        </p:nvCxnSpPr>
        <p:spPr>
          <a:xfrm>
            <a:off x="5972789" y="1907455"/>
            <a:ext cx="0" cy="275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9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5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37E410-20AC-9C5C-FAB8-EFCC4F8EACC1}"/>
              </a:ext>
            </a:extLst>
          </p:cNvPr>
          <p:cNvSpPr txBox="1"/>
          <p:nvPr/>
        </p:nvSpPr>
        <p:spPr>
          <a:xfrm>
            <a:off x="383457" y="1724687"/>
            <a:ext cx="63713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comp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-&gt;Exec(..., comm);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if (rank + 1 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systemsize</a:t>
            </a:r>
            <a:r>
              <a:rPr lang="en-US" b="0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int top = rank + 1;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send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Isend</a:t>
            </a:r>
            <a:r>
              <a:rPr lang="en-US" b="0" dirty="0">
                <a:effectLst/>
                <a:latin typeface="Consolas" panose="020B0609020204030204" pitchFamily="49" charset="0"/>
              </a:rPr>
              <a:t>(..., comp);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recv</a:t>
            </a:r>
            <a:r>
              <a:rPr lang="en-US" b="0" dirty="0"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Irecv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...</a:t>
            </a:r>
            <a:r>
              <a:rPr lang="en-US" b="0" dirty="0">
                <a:effectLst/>
                <a:latin typeface="Consolas" panose="020B0609020204030204" pitchFamily="49" charset="0"/>
              </a:rPr>
              <a:t>, comp);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if (rank &gt; 0)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int bottom = rank - 1;</a:t>
            </a:r>
          </a:p>
          <a:p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0" dirty="0">
                <a:effectLst/>
                <a:latin typeface="Consolas" panose="020B0609020204030204" pitchFamily="49" charset="0"/>
              </a:rPr>
              <a:t>send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Isend</a:t>
            </a:r>
            <a:r>
              <a:rPr lang="en-US" b="0" dirty="0">
                <a:effectLst/>
                <a:latin typeface="Consolas" panose="020B0609020204030204" pitchFamily="49" charset="0"/>
              </a:rPr>
              <a:t>(..., comp);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recv</a:t>
            </a:r>
            <a:r>
              <a:rPr lang="en-US" b="0" dirty="0"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Irecv</a:t>
            </a:r>
            <a:r>
              <a:rPr lang="en-US" b="0" dirty="0">
                <a:effectLst/>
                <a:latin typeface="Consolas" panose="020B0609020204030204" pitchFamily="49" charset="0"/>
              </a:rPr>
              <a:t>(..., comp);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ABEACF8-ABBF-1119-0924-AE0344C91E7A}"/>
              </a:ext>
            </a:extLst>
          </p:cNvPr>
          <p:cNvSpPr/>
          <p:nvPr/>
        </p:nvSpPr>
        <p:spPr>
          <a:xfrm>
            <a:off x="7612380" y="2110741"/>
            <a:ext cx="3063240" cy="3307079"/>
          </a:xfrm>
          <a:custGeom>
            <a:avLst/>
            <a:gdLst>
              <a:gd name="connsiteX0" fmla="*/ 0 w 2887980"/>
              <a:gd name="connsiteY0" fmla="*/ 0 h 2971800"/>
              <a:gd name="connsiteX1" fmla="*/ 1082040 w 2887980"/>
              <a:gd name="connsiteY1" fmla="*/ 1485900 h 2971800"/>
              <a:gd name="connsiteX2" fmla="*/ 2887980 w 2887980"/>
              <a:gd name="connsiteY2" fmla="*/ 2971800 h 297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7980" h="2971800">
                <a:moveTo>
                  <a:pt x="0" y="0"/>
                </a:moveTo>
                <a:cubicBezTo>
                  <a:pt x="300355" y="495300"/>
                  <a:pt x="600710" y="990600"/>
                  <a:pt x="1082040" y="1485900"/>
                </a:cubicBezTo>
                <a:cubicBezTo>
                  <a:pt x="1563370" y="1981200"/>
                  <a:pt x="2225675" y="2476500"/>
                  <a:pt x="2887980" y="29718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B96C90-1186-5492-C945-45AB21F76E35}"/>
              </a:ext>
            </a:extLst>
          </p:cNvPr>
          <p:cNvSpPr/>
          <p:nvPr/>
        </p:nvSpPr>
        <p:spPr>
          <a:xfrm>
            <a:off x="7672848" y="2585508"/>
            <a:ext cx="961103" cy="93406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SEND</a:t>
            </a:r>
            <a:endParaRPr lang="en-US" sz="14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0A71B5-1A49-FEAF-BF45-C783B9AE020F}"/>
              </a:ext>
            </a:extLst>
          </p:cNvPr>
          <p:cNvSpPr/>
          <p:nvPr/>
        </p:nvSpPr>
        <p:spPr>
          <a:xfrm>
            <a:off x="8477863" y="3451750"/>
            <a:ext cx="961103" cy="934064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RECV</a:t>
            </a:r>
            <a:endParaRPr lang="en-US" sz="14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EF00590-66A9-326C-0168-8EEB4103AC6D}"/>
              </a:ext>
            </a:extLst>
          </p:cNvPr>
          <p:cNvSpPr/>
          <p:nvPr/>
        </p:nvSpPr>
        <p:spPr>
          <a:xfrm>
            <a:off x="7192297" y="1533832"/>
            <a:ext cx="961103" cy="9340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COMP</a:t>
            </a:r>
            <a:endParaRPr lang="en-US" sz="14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D284371-A2C0-4454-78D9-F33FFA634E51}"/>
              </a:ext>
            </a:extLst>
          </p:cNvPr>
          <p:cNvSpPr/>
          <p:nvPr/>
        </p:nvSpPr>
        <p:spPr>
          <a:xfrm>
            <a:off x="9359080" y="4315244"/>
            <a:ext cx="961103" cy="93406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SEND</a:t>
            </a:r>
            <a:endParaRPr lang="en-US" sz="14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4C3BFBE-F3CC-9A46-D800-03A00AB3BD74}"/>
              </a:ext>
            </a:extLst>
          </p:cNvPr>
          <p:cNvSpPr/>
          <p:nvPr/>
        </p:nvSpPr>
        <p:spPr>
          <a:xfrm>
            <a:off x="10392697" y="5022883"/>
            <a:ext cx="961103" cy="934064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RECV</a:t>
            </a:r>
            <a:endParaRPr lang="en-US" sz="1400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7C86CF1E-6A63-E679-C788-41E961F63B05}"/>
              </a:ext>
            </a:extLst>
          </p:cNvPr>
          <p:cNvSpPr txBox="1">
            <a:spLocks/>
          </p:cNvSpPr>
          <p:nvPr/>
        </p:nvSpPr>
        <p:spPr>
          <a:xfrm>
            <a:off x="3321336" y="5739196"/>
            <a:ext cx="6371304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Code to Graph generation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419156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Static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6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58D795E-9634-AC30-E569-558ACEFA7A4A}"/>
              </a:ext>
            </a:extLst>
          </p:cNvPr>
          <p:cNvSpPr txBox="1"/>
          <p:nvPr/>
        </p:nvSpPr>
        <p:spPr>
          <a:xfrm>
            <a:off x="342817" y="1235062"/>
            <a:ext cx="1455503" cy="1477328"/>
          </a:xfrm>
          <a:prstGeom prst="rect">
            <a:avLst/>
          </a:prstGeom>
          <a:noFill/>
          <a:ln>
            <a:solidFill>
              <a:schemeClr val="accent1"/>
            </a:solidFill>
            <a:prstDash val="lgDashDot"/>
          </a:ln>
        </p:spPr>
        <p:txBody>
          <a:bodyPr wrap="square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  <a:r>
              <a:rPr lang="en-US" b="0" dirty="0">
                <a:ln>
                  <a:solidFill>
                    <a:schemeClr val="tx1"/>
                  </a:solidFill>
                </a:ln>
                <a:effectLst/>
                <a:latin typeface="Consolas" panose="020B0609020204030204" pitchFamily="49" charset="0"/>
              </a:rPr>
              <a:t>///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////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  <a:r>
              <a:rPr lang="en-US" b="0" dirty="0">
                <a:ln>
                  <a:solidFill>
                    <a:schemeClr val="tx1"/>
                  </a:solidFill>
                </a:ln>
                <a:effectLst/>
                <a:latin typeface="Consolas" panose="020B0609020204030204" pitchFamily="49" charset="0"/>
              </a:rPr>
              <a:t>///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////</a:t>
            </a:r>
            <a:endParaRPr lang="en-US" b="0" dirty="0">
              <a:ln>
                <a:solidFill>
                  <a:schemeClr val="tx1"/>
                </a:solidFill>
              </a:ln>
              <a:effectLst/>
              <a:latin typeface="Consolas" panose="020B0609020204030204" pitchFamily="49" charset="0"/>
            </a:endParaRPr>
          </a:p>
          <a:p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CODE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</a:p>
          <a:p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  <a:r>
              <a:rPr lang="en-US" b="0" dirty="0">
                <a:ln>
                  <a:solidFill>
                    <a:schemeClr val="tx1"/>
                  </a:solidFill>
                </a:ln>
                <a:effectLst/>
                <a:latin typeface="Consolas" panose="020B0609020204030204" pitchFamily="49" charset="0"/>
              </a:rPr>
              <a:t>///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////</a:t>
            </a:r>
            <a:endParaRPr lang="en-US" b="0" dirty="0">
              <a:ln>
                <a:solidFill>
                  <a:schemeClr val="tx1"/>
                </a:solidFill>
              </a:ln>
              <a:effectLst/>
              <a:latin typeface="Consolas" panose="020B0609020204030204" pitchFamily="49" charset="0"/>
            </a:endParaRPr>
          </a:p>
          <a:p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</a:t>
            </a:r>
            <a:r>
              <a:rPr lang="en-US" b="0" dirty="0">
                <a:ln>
                  <a:solidFill>
                    <a:schemeClr val="tx1"/>
                  </a:solidFill>
                </a:ln>
                <a:effectLst/>
                <a:latin typeface="Consolas" panose="020B0609020204030204" pitchFamily="49" charset="0"/>
              </a:rPr>
              <a:t>///</a:t>
            </a:r>
            <a:r>
              <a:rPr lang="en-US" dirty="0">
                <a:ln>
                  <a:solidFill>
                    <a:schemeClr val="tx1"/>
                  </a:solidFill>
                </a:ln>
                <a:latin typeface="Consolas" panose="020B0609020204030204" pitchFamily="49" charset="0"/>
              </a:rPr>
              <a:t>////</a:t>
            </a:r>
            <a:endParaRPr lang="en-US" b="0" dirty="0">
              <a:ln>
                <a:solidFill>
                  <a:schemeClr val="tx1"/>
                </a:solidFill>
              </a:ln>
              <a:effectLst/>
              <a:latin typeface="Consolas" panose="020B0609020204030204" pitchFamily="49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A4930ABD-0C32-4695-E9B9-4D633FBE7CB2}"/>
              </a:ext>
            </a:extLst>
          </p:cNvPr>
          <p:cNvSpPr/>
          <p:nvPr/>
        </p:nvSpPr>
        <p:spPr>
          <a:xfrm>
            <a:off x="2045108" y="1757418"/>
            <a:ext cx="747251" cy="432615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D8EC20-C58B-2541-5B63-B53B17F21D27}"/>
              </a:ext>
            </a:extLst>
          </p:cNvPr>
          <p:cNvSpPr/>
          <p:nvPr/>
        </p:nvSpPr>
        <p:spPr>
          <a:xfrm>
            <a:off x="3079630" y="1398537"/>
            <a:ext cx="1455503" cy="11503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Model</a:t>
            </a:r>
          </a:p>
          <a:p>
            <a:pPr algn="ctr"/>
            <a:r>
              <a:rPr lang="de-DE" dirty="0"/>
              <a:t>Analysis</a:t>
            </a:r>
            <a:endParaRPr lang="en-US" dirty="0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E5C6BA21-0549-4126-3712-C4291A68EF18}"/>
              </a:ext>
            </a:extLst>
          </p:cNvPr>
          <p:cNvSpPr/>
          <p:nvPr/>
        </p:nvSpPr>
        <p:spPr>
          <a:xfrm>
            <a:off x="4822728" y="1762338"/>
            <a:ext cx="747251" cy="432615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0EF5BD26-6AC8-1F53-6A95-719C1ED9AAF5}"/>
              </a:ext>
            </a:extLst>
          </p:cNvPr>
          <p:cNvSpPr/>
          <p:nvPr/>
        </p:nvSpPr>
        <p:spPr>
          <a:xfrm>
            <a:off x="5922543" y="1232112"/>
            <a:ext cx="2474451" cy="1537958"/>
          </a:xfrm>
          <a:prstGeom prst="frame">
            <a:avLst>
              <a:gd name="adj1" fmla="val 103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51C19693-2BDF-5563-34A4-7BFE1F6EEBFF}"/>
              </a:ext>
            </a:extLst>
          </p:cNvPr>
          <p:cNvSpPr/>
          <p:nvPr/>
        </p:nvSpPr>
        <p:spPr>
          <a:xfrm>
            <a:off x="8826904" y="1757418"/>
            <a:ext cx="747251" cy="432615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7C83BF88-4671-D20B-58A6-899701BD4AA4}"/>
              </a:ext>
            </a:extLst>
          </p:cNvPr>
          <p:cNvSpPr/>
          <p:nvPr/>
        </p:nvSpPr>
        <p:spPr>
          <a:xfrm>
            <a:off x="9982200" y="1135752"/>
            <a:ext cx="1759974" cy="1675944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DSEL </a:t>
            </a:r>
            <a:r>
              <a:rPr lang="de-DE" dirty="0" err="1"/>
              <a:t>ready</a:t>
            </a:r>
            <a:r>
              <a:rPr lang="de-DE" dirty="0"/>
              <a:t> code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5C77947-BB8E-AA27-0BCF-035A21C906F1}"/>
              </a:ext>
            </a:extLst>
          </p:cNvPr>
          <p:cNvSpPr txBox="1">
            <a:spLocks/>
          </p:cNvSpPr>
          <p:nvPr/>
        </p:nvSpPr>
        <p:spPr>
          <a:xfrm>
            <a:off x="6200472" y="182315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Static Analysis</a:t>
            </a:r>
            <a:endParaRPr lang="de-DE" sz="2000" dirty="0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18B5138B-73F4-67CA-8995-D1678DECB852}"/>
              </a:ext>
            </a:extLst>
          </p:cNvPr>
          <p:cNvSpPr/>
          <p:nvPr/>
        </p:nvSpPr>
        <p:spPr>
          <a:xfrm rot="5400000">
            <a:off x="7037282" y="1824100"/>
            <a:ext cx="244971" cy="2474451"/>
          </a:xfrm>
          <a:prstGeom prst="rightBrace">
            <a:avLst>
              <a:gd name="adj1" fmla="val 56666"/>
              <a:gd name="adj2" fmla="val 493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D119AD1A-350E-10CA-D53E-BD78FDF3ED78}"/>
              </a:ext>
            </a:extLst>
          </p:cNvPr>
          <p:cNvSpPr/>
          <p:nvPr/>
        </p:nvSpPr>
        <p:spPr>
          <a:xfrm rot="16200000">
            <a:off x="5736465" y="-1525383"/>
            <a:ext cx="365110" cy="10028902"/>
          </a:xfrm>
          <a:prstGeom prst="rightBrace">
            <a:avLst>
              <a:gd name="adj1" fmla="val 56666"/>
              <a:gd name="adj2" fmla="val 624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C0E08C-611F-FBD8-3FB2-94B3F412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4378231"/>
            <a:ext cx="1742768" cy="18344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0F31D5A-4B83-B032-BB3B-259BC05C7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305" y="4070451"/>
            <a:ext cx="2097389" cy="2237215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ED22327-03ED-336C-73EC-8317B909D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901668"/>
              </p:ext>
            </p:extLst>
          </p:nvPr>
        </p:nvGraphicFramePr>
        <p:xfrm>
          <a:off x="1498021" y="4359988"/>
          <a:ext cx="1957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966">
                  <a:extLst>
                    <a:ext uri="{9D8B030D-6E8A-4147-A177-3AD203B41FA5}">
                      <a16:colId xmlns:a16="http://schemas.microsoft.com/office/drawing/2014/main" val="1061760012"/>
                    </a:ext>
                  </a:extLst>
                </a:gridCol>
                <a:gridCol w="978966">
                  <a:extLst>
                    <a:ext uri="{9D8B030D-6E8A-4147-A177-3AD203B41FA5}">
                      <a16:colId xmlns:a16="http://schemas.microsoft.com/office/drawing/2014/main" val="2414034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62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10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73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164654"/>
                  </a:ext>
                </a:extLst>
              </a:tr>
            </a:tbl>
          </a:graphicData>
        </a:graphic>
      </p:graphicFrame>
      <p:sp>
        <p:nvSpPr>
          <p:cNvPr id="26" name="Title 1">
            <a:extLst>
              <a:ext uri="{FF2B5EF4-FFF2-40B4-BE49-F238E27FC236}">
                <a16:creationId xmlns:a16="http://schemas.microsoft.com/office/drawing/2014/main" id="{4CF84A23-C6A5-A341-31DF-024F828165DA}"/>
              </a:ext>
            </a:extLst>
          </p:cNvPr>
          <p:cNvSpPr txBox="1">
            <a:spLocks/>
          </p:cNvSpPr>
          <p:nvPr/>
        </p:nvSpPr>
        <p:spPr>
          <a:xfrm>
            <a:off x="4954964" y="3696577"/>
            <a:ext cx="228206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Abstract Syntax Tree</a:t>
            </a:r>
            <a:endParaRPr lang="de-DE" sz="2000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962200F-F5E2-2D79-BAD4-11C012D78799}"/>
              </a:ext>
            </a:extLst>
          </p:cNvPr>
          <p:cNvSpPr txBox="1">
            <a:spLocks/>
          </p:cNvSpPr>
          <p:nvPr/>
        </p:nvSpPr>
        <p:spPr>
          <a:xfrm>
            <a:off x="8396993" y="3736276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Call Graph</a:t>
            </a:r>
            <a:endParaRPr lang="de-DE" sz="2000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2A161C8-0860-9179-9724-337695D38BE2}"/>
              </a:ext>
            </a:extLst>
          </p:cNvPr>
          <p:cNvSpPr txBox="1">
            <a:spLocks/>
          </p:cNvSpPr>
          <p:nvPr/>
        </p:nvSpPr>
        <p:spPr>
          <a:xfrm>
            <a:off x="1522275" y="374746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Symbol Table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27623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Execution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7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FILE</a:t>
            </a:r>
            <a:endParaRPr lang="de-DE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SRC</a:t>
            </a:r>
            <a:endParaRPr lang="de-DE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LBL</a:t>
            </a:r>
            <a:endParaRPr lang="de-DE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</a:t>
            </a:r>
            <a:endParaRPr lang="de-DE" sz="4000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7BB8E8F-C417-1B9D-410F-85742F6BE151}"/>
              </a:ext>
            </a:extLst>
          </p:cNvPr>
          <p:cNvSpPr/>
          <p:nvPr/>
        </p:nvSpPr>
        <p:spPr>
          <a:xfrm rot="5400000">
            <a:off x="3105764" y="726337"/>
            <a:ext cx="592242" cy="3402112"/>
          </a:xfrm>
          <a:prstGeom prst="rightBrace">
            <a:avLst>
              <a:gd name="adj1" fmla="val 14361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31F406F-84AB-4AE0-898C-99D9902449ED}"/>
              </a:ext>
            </a:extLst>
          </p:cNvPr>
          <p:cNvSpPr txBox="1">
            <a:spLocks/>
          </p:cNvSpPr>
          <p:nvPr/>
        </p:nvSpPr>
        <p:spPr>
          <a:xfrm>
            <a:off x="1700829" y="2040573"/>
            <a:ext cx="3402112" cy="2029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Uses </a:t>
            </a:r>
            <a:r>
              <a:rPr lang="en-US" sz="2000" dirty="0" err="1"/>
              <a:t>kerncraft</a:t>
            </a:r>
            <a:r>
              <a:rPr lang="en-US" sz="2000" dirty="0"/>
              <a:t> in backend to derive ECM model values</a:t>
            </a:r>
            <a:endParaRPr lang="de-DE" sz="2000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71DDFAD-FF6D-05F5-94E5-2B65D822B8D7}"/>
              </a:ext>
            </a:extLst>
          </p:cNvPr>
          <p:cNvSpPr/>
          <p:nvPr/>
        </p:nvSpPr>
        <p:spPr>
          <a:xfrm rot="5400000">
            <a:off x="8518439" y="731254"/>
            <a:ext cx="592242" cy="3402112"/>
          </a:xfrm>
          <a:prstGeom prst="rightBrace">
            <a:avLst>
              <a:gd name="adj1" fmla="val 14361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F8AA706-197A-6C6F-3E21-150433F1087D}"/>
              </a:ext>
            </a:extLst>
          </p:cNvPr>
          <p:cNvSpPr txBox="1">
            <a:spLocks/>
          </p:cNvSpPr>
          <p:nvPr/>
        </p:nvSpPr>
        <p:spPr>
          <a:xfrm>
            <a:off x="7113504" y="2045490"/>
            <a:ext cx="3402112" cy="2029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Directly uses given ECM model values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0405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Execution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8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2"/>
                </a:solidFill>
              </a:rPr>
              <a:t>FILE</a:t>
            </a:r>
            <a:endParaRPr lang="de-DE" sz="4000" dirty="0">
              <a:solidFill>
                <a:schemeClr val="accent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SRC</a:t>
            </a:r>
            <a:endParaRPr lang="de-DE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LBL</a:t>
            </a:r>
            <a:endParaRPr lang="de-DE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</a:t>
            </a:r>
            <a:endParaRPr lang="de-DE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C3173-F76A-AF09-857E-1DAE1F8B4461}"/>
              </a:ext>
            </a:extLst>
          </p:cNvPr>
          <p:cNvSpPr txBox="1"/>
          <p:nvPr/>
        </p:nvSpPr>
        <p:spPr>
          <a:xfrm>
            <a:off x="561911" y="3297859"/>
            <a:ext cx="6371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comp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-&gt;Exec(FILE:STREAM.c//..., comm);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60926-7CDB-2A8E-AD49-F1E18AA8AFAD}"/>
              </a:ext>
            </a:extLst>
          </p:cNvPr>
          <p:cNvSpPr txBox="1"/>
          <p:nvPr/>
        </p:nvSpPr>
        <p:spPr>
          <a:xfrm>
            <a:off x="7642122" y="3429000"/>
            <a:ext cx="3642852" cy="230832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Dot"/>
          </a:ln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double a[N], b[N], c[N];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double s;</a:t>
            </a:r>
          </a:p>
          <a:p>
            <a:br>
              <a:rPr lang="pt-BR" b="0" dirty="0">
                <a:effectLst/>
                <a:latin typeface="Consolas" panose="020B0609020204030204" pitchFamily="49" charset="0"/>
              </a:rPr>
            </a:br>
            <a:r>
              <a:rPr lang="pt-BR" b="0" dirty="0">
                <a:effectLst/>
                <a:latin typeface="Consolas" panose="020B0609020204030204" pitchFamily="49" charset="0"/>
              </a:rPr>
              <a:t>for(int i=0; i&lt;N; ++i)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    a[i] = b[i] + s * c[i];</a:t>
            </a:r>
          </a:p>
          <a:p>
            <a:br>
              <a:rPr lang="pt-BR" b="0" dirty="0">
                <a:effectLst/>
                <a:latin typeface="Consolas" panose="020B0609020204030204" pitchFamily="49" charset="0"/>
              </a:rPr>
            </a:br>
            <a:endParaRPr lang="pt-BR" b="0" dirty="0">
              <a:effectLst/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A7AE0-984A-F6A6-09FD-B98D054D63ED}"/>
              </a:ext>
            </a:extLst>
          </p:cNvPr>
          <p:cNvSpPr txBox="1"/>
          <p:nvPr/>
        </p:nvSpPr>
        <p:spPr>
          <a:xfrm>
            <a:off x="8868696" y="5755986"/>
            <a:ext cx="1189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effectLst/>
                <a:latin typeface="Consolas" panose="020B0609020204030204" pitchFamily="49" charset="0"/>
              </a:rPr>
              <a:t>STREAM.c</a:t>
            </a:r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D070AD-27E6-C185-FBEA-3113B1F50F39}"/>
              </a:ext>
            </a:extLst>
          </p:cNvPr>
          <p:cNvSpPr/>
          <p:nvPr/>
        </p:nvSpPr>
        <p:spPr>
          <a:xfrm>
            <a:off x="4549879" y="3647767"/>
            <a:ext cx="2971798" cy="934065"/>
          </a:xfrm>
          <a:custGeom>
            <a:avLst/>
            <a:gdLst>
              <a:gd name="connsiteX0" fmla="*/ 0 w 3038167"/>
              <a:gd name="connsiteY0" fmla="*/ 0 h 894735"/>
              <a:gd name="connsiteX1" fmla="*/ 1140542 w 3038167"/>
              <a:gd name="connsiteY1" fmla="*/ 707922 h 894735"/>
              <a:gd name="connsiteX2" fmla="*/ 3038167 w 3038167"/>
              <a:gd name="connsiteY2" fmla="*/ 894735 h 89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8167" h="894735">
                <a:moveTo>
                  <a:pt x="0" y="0"/>
                </a:moveTo>
                <a:cubicBezTo>
                  <a:pt x="317090" y="279400"/>
                  <a:pt x="634181" y="558800"/>
                  <a:pt x="1140542" y="707922"/>
                </a:cubicBezTo>
                <a:cubicBezTo>
                  <a:pt x="1646903" y="857044"/>
                  <a:pt x="2342535" y="875889"/>
                  <a:pt x="3038167" y="8947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8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Execution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9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FILE</a:t>
            </a:r>
            <a:endParaRPr lang="de-DE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2"/>
                </a:solidFill>
              </a:rPr>
              <a:t>SRC</a:t>
            </a:r>
            <a:endParaRPr lang="de-DE" sz="4000" dirty="0">
              <a:solidFill>
                <a:schemeClr val="accent2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LBL</a:t>
            </a:r>
            <a:endParaRPr lang="de-DE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</a:t>
            </a:r>
            <a:endParaRPr lang="de-DE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C3173-F76A-AF09-857E-1DAE1F8B4461}"/>
              </a:ext>
            </a:extLst>
          </p:cNvPr>
          <p:cNvSpPr txBox="1"/>
          <p:nvPr/>
        </p:nvSpPr>
        <p:spPr>
          <a:xfrm>
            <a:off x="561911" y="3297859"/>
            <a:ext cx="10990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comp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-&gt;Exec(SRC:</a:t>
            </a:r>
            <a:r>
              <a:rPr lang="pt-BR" b="0" dirty="0">
                <a:effectLst/>
                <a:latin typeface="Consolas" panose="020B0609020204030204" pitchFamily="49" charset="0"/>
              </a:rPr>
              <a:t>double a[N], b[N], c[N]; double s; for(int i=0; i&lt;N; 				  ++i) a[i] = b[i] + s * c[i]; </a:t>
            </a:r>
            <a:r>
              <a:rPr lang="en-US" b="0" dirty="0">
                <a:effectLst/>
                <a:latin typeface="Consolas" panose="020B0609020204030204" pitchFamily="49" charset="0"/>
              </a:rPr>
              <a:t>//..., comm);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784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Execution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10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FILE</a:t>
            </a:r>
            <a:endParaRPr lang="de-DE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SRC</a:t>
            </a:r>
            <a:endParaRPr lang="de-DE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2"/>
                </a:solidFill>
              </a:rPr>
              <a:t>LBL</a:t>
            </a:r>
            <a:endParaRPr lang="de-DE" sz="4000" dirty="0">
              <a:solidFill>
                <a:schemeClr val="accent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</a:t>
            </a:r>
            <a:endParaRPr lang="de-DE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C3173-F76A-AF09-857E-1DAE1F8B4461}"/>
              </a:ext>
            </a:extLst>
          </p:cNvPr>
          <p:cNvSpPr txBox="1"/>
          <p:nvPr/>
        </p:nvSpPr>
        <p:spPr>
          <a:xfrm>
            <a:off x="561910" y="3297859"/>
            <a:ext cx="6831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comp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-&gt;Exec(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LBL:STREAM.cfg</a:t>
            </a:r>
            <a:r>
              <a:rPr lang="en-US" b="0" dirty="0">
                <a:effectLst/>
                <a:latin typeface="Consolas" panose="020B0609020204030204" pitchFamily="49" charset="0"/>
              </a:rPr>
              <a:t>//..., comm);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60926-7CDB-2A8E-AD49-F1E18AA8AFAD}"/>
              </a:ext>
            </a:extLst>
          </p:cNvPr>
          <p:cNvSpPr txBox="1"/>
          <p:nvPr/>
        </p:nvSpPr>
        <p:spPr>
          <a:xfrm>
            <a:off x="7642122" y="3429000"/>
            <a:ext cx="3642852" cy="230832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Dot"/>
          </a:ln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#ECM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T_OL = 1.3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T_nOL = 1.0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T_L1L2 = 4.0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T_L2L3 = 12.0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T_L3Mem = 5.5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T_ECM = 22.5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T_MECM = 4.7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A7AE0-984A-F6A6-09FD-B98D054D63ED}"/>
              </a:ext>
            </a:extLst>
          </p:cNvPr>
          <p:cNvSpPr txBox="1"/>
          <p:nvPr/>
        </p:nvSpPr>
        <p:spPr>
          <a:xfrm>
            <a:off x="8868696" y="5755986"/>
            <a:ext cx="1563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effectLst/>
                <a:latin typeface="Consolas" panose="020B0609020204030204" pitchFamily="49" charset="0"/>
              </a:rPr>
              <a:t>STREAM.cfg</a:t>
            </a:r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4D070AD-27E6-C185-FBEA-3113B1F50F39}"/>
              </a:ext>
            </a:extLst>
          </p:cNvPr>
          <p:cNvSpPr/>
          <p:nvPr/>
        </p:nvSpPr>
        <p:spPr>
          <a:xfrm>
            <a:off x="4549879" y="3647767"/>
            <a:ext cx="2971798" cy="934065"/>
          </a:xfrm>
          <a:custGeom>
            <a:avLst/>
            <a:gdLst>
              <a:gd name="connsiteX0" fmla="*/ 0 w 3038167"/>
              <a:gd name="connsiteY0" fmla="*/ 0 h 894735"/>
              <a:gd name="connsiteX1" fmla="*/ 1140542 w 3038167"/>
              <a:gd name="connsiteY1" fmla="*/ 707922 h 894735"/>
              <a:gd name="connsiteX2" fmla="*/ 3038167 w 3038167"/>
              <a:gd name="connsiteY2" fmla="*/ 894735 h 89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8167" h="894735">
                <a:moveTo>
                  <a:pt x="0" y="0"/>
                </a:moveTo>
                <a:cubicBezTo>
                  <a:pt x="317090" y="279400"/>
                  <a:pt x="634181" y="558800"/>
                  <a:pt x="1140542" y="707922"/>
                </a:cubicBezTo>
                <a:cubicBezTo>
                  <a:pt x="1646903" y="857044"/>
                  <a:pt x="2342535" y="875889"/>
                  <a:pt x="3038167" y="8947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18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Execution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11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FILE</a:t>
            </a:r>
            <a:endParaRPr lang="de-DE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SRC</a:t>
            </a:r>
            <a:endParaRPr lang="de-DE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LBL</a:t>
            </a:r>
            <a:endParaRPr lang="de-DE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410370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accent2"/>
                </a:solidFill>
              </a:rPr>
              <a:t>COMP</a:t>
            </a:r>
            <a:endParaRPr lang="de-DE" sz="40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0C3173-F76A-AF09-857E-1DAE1F8B4461}"/>
              </a:ext>
            </a:extLst>
          </p:cNvPr>
          <p:cNvSpPr txBox="1"/>
          <p:nvPr/>
        </p:nvSpPr>
        <p:spPr>
          <a:xfrm>
            <a:off x="561910" y="3297859"/>
            <a:ext cx="111876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comp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DisCosTiC</a:t>
            </a:r>
            <a:r>
              <a:rPr lang="en-US" b="0" dirty="0">
                <a:effectLst/>
                <a:latin typeface="Consolas" panose="020B0609020204030204" pitchFamily="49" charset="0"/>
              </a:rPr>
              <a:t>-&gt;Exec(COMP:T_OL = 1.3||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T_nOL</a:t>
            </a:r>
            <a:r>
              <a:rPr lang="en-US" b="0" dirty="0">
                <a:effectLst/>
                <a:latin typeface="Consolas" panose="020B0609020204030204" pitchFamily="49" charset="0"/>
              </a:rPr>
              <a:t> = 1.0|T_L1L2 = 4.0|T_L2L3 = 12.0|T_L3Mem 					= 5.5|T_ECM = 22.5|T_MECM = 4.7//..., comm);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680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modifications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– User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feasibility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12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CE04-BE88-5970-689E-CE079F1E2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938378"/>
            <a:ext cx="11131421" cy="51638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de-DE" dirty="0" err="1"/>
              <a:t>Standardization</a:t>
            </a:r>
            <a:r>
              <a:rPr lang="de-DE" dirty="0"/>
              <a:t> of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Cmake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parameterization</a:t>
            </a:r>
            <a:r>
              <a:rPr lang="de-DE" dirty="0"/>
              <a:t>.</a:t>
            </a:r>
          </a:p>
          <a:p>
            <a:pPr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r>
              <a:rPr lang="de-DE" dirty="0" err="1"/>
              <a:t>Segregated</a:t>
            </a:r>
            <a:r>
              <a:rPr lang="de-DE" dirty="0"/>
              <a:t> network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.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Intrachip</a:t>
            </a:r>
          </a:p>
          <a:p>
            <a:pPr lvl="1">
              <a:lnSpc>
                <a:spcPct val="120000"/>
              </a:lnSpc>
            </a:pPr>
            <a:r>
              <a:rPr lang="de-DE" dirty="0"/>
              <a:t>Interchip</a:t>
            </a:r>
          </a:p>
          <a:p>
            <a:pPr lvl="1">
              <a:lnSpc>
                <a:spcPct val="120000"/>
              </a:lnSpc>
            </a:pPr>
            <a:r>
              <a:rPr lang="de-DE" dirty="0" err="1"/>
              <a:t>Internode</a:t>
            </a:r>
            <a:r>
              <a:rPr lang="de-DE" dirty="0"/>
              <a:t> (</a:t>
            </a:r>
            <a:r>
              <a:rPr lang="de-DE" dirty="0" err="1"/>
              <a:t>Omnipath</a:t>
            </a:r>
            <a:r>
              <a:rPr lang="de-DE" dirty="0"/>
              <a:t>, </a:t>
            </a:r>
            <a:r>
              <a:rPr lang="de-DE" dirty="0" err="1"/>
              <a:t>Infiniband</a:t>
            </a:r>
            <a:r>
              <a:rPr lang="de-DE" dirty="0"/>
              <a:t>)</a:t>
            </a:r>
          </a:p>
          <a:p>
            <a:pPr lvl="1">
              <a:lnSpc>
                <a:spcPct val="120000"/>
              </a:lnSpc>
            </a:pPr>
            <a:endParaRPr lang="de-DE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50072-C4DE-4BED-2CEA-4B7EB195B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281" y="983737"/>
            <a:ext cx="2355261" cy="70479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4D4F703-9C29-E831-CEFF-2073284B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89" y="1973725"/>
            <a:ext cx="2195666" cy="122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10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modifications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– User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feasibility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13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ECE04-BE88-5970-689E-CE079F1E2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08" y="938378"/>
            <a:ext cx="11487490" cy="516384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SLURM feature </a:t>
            </a:r>
            <a:r>
              <a:rPr lang="de-DE" dirty="0"/>
              <a:t>–</a:t>
            </a:r>
            <a:r>
              <a:rPr lang="de-DE" dirty="0" err="1"/>
              <a:t>tasks_per_node</a:t>
            </a:r>
            <a:r>
              <a:rPr lang="de-DE" dirty="0"/>
              <a:t> (</a:t>
            </a:r>
            <a:r>
              <a:rPr lang="de-DE" dirty="0" err="1"/>
              <a:t>may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considered</a:t>
            </a:r>
            <a:r>
              <a:rPr lang="de-DE" dirty="0"/>
              <a:t> </a:t>
            </a:r>
            <a:r>
              <a:rPr lang="de-DE" dirty="0" err="1"/>
              <a:t>compact</a:t>
            </a:r>
            <a:r>
              <a:rPr lang="de-DE" dirty="0"/>
              <a:t> </a:t>
            </a:r>
            <a:r>
              <a:rPr lang="de-DE" dirty="0" err="1"/>
              <a:t>pinning</a:t>
            </a:r>
            <a:r>
              <a:rPr lang="de-DE" dirty="0"/>
              <a:t>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2020AD-2B3E-41B7-A890-13BA5FD72C8B}"/>
              </a:ext>
            </a:extLst>
          </p:cNvPr>
          <p:cNvSpPr/>
          <p:nvPr/>
        </p:nvSpPr>
        <p:spPr>
          <a:xfrm>
            <a:off x="681236" y="2814609"/>
            <a:ext cx="1983306" cy="185571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8838B9-F536-3ED8-D3C5-94525CF0D666}"/>
              </a:ext>
            </a:extLst>
          </p:cNvPr>
          <p:cNvSpPr/>
          <p:nvPr/>
        </p:nvSpPr>
        <p:spPr>
          <a:xfrm>
            <a:off x="825910" y="2910348"/>
            <a:ext cx="1710813" cy="16518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0792D-F980-D8A5-86A5-EBF93936FAF9}"/>
              </a:ext>
            </a:extLst>
          </p:cNvPr>
          <p:cNvSpPr/>
          <p:nvPr/>
        </p:nvSpPr>
        <p:spPr>
          <a:xfrm>
            <a:off x="943897" y="3047998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4E5815-6140-F100-840C-E6AD0351B3C7}"/>
              </a:ext>
            </a:extLst>
          </p:cNvPr>
          <p:cNvSpPr/>
          <p:nvPr/>
        </p:nvSpPr>
        <p:spPr>
          <a:xfrm>
            <a:off x="1319629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C5509C-06E7-926E-4B00-AA8133C2EF16}"/>
              </a:ext>
            </a:extLst>
          </p:cNvPr>
          <p:cNvSpPr/>
          <p:nvPr/>
        </p:nvSpPr>
        <p:spPr>
          <a:xfrm>
            <a:off x="1683423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E3F84-C14F-34F0-8F7A-7BF6021C3F92}"/>
              </a:ext>
            </a:extLst>
          </p:cNvPr>
          <p:cNvSpPr/>
          <p:nvPr/>
        </p:nvSpPr>
        <p:spPr>
          <a:xfrm>
            <a:off x="2051079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2853A4-49CA-016D-99AB-B368ACEC1307}"/>
              </a:ext>
            </a:extLst>
          </p:cNvPr>
          <p:cNvSpPr/>
          <p:nvPr/>
        </p:nvSpPr>
        <p:spPr>
          <a:xfrm>
            <a:off x="948812" y="3397043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11B49C-9CBB-633F-E55C-7606D405C29F}"/>
              </a:ext>
            </a:extLst>
          </p:cNvPr>
          <p:cNvSpPr/>
          <p:nvPr/>
        </p:nvSpPr>
        <p:spPr>
          <a:xfrm>
            <a:off x="1324544" y="3401959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CC74EB-24F1-BA12-E9F3-C63E7C09B6C5}"/>
              </a:ext>
            </a:extLst>
          </p:cNvPr>
          <p:cNvSpPr/>
          <p:nvPr/>
        </p:nvSpPr>
        <p:spPr>
          <a:xfrm>
            <a:off x="1688338" y="3401959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E31DED-43A7-218B-C6AA-3FE66B46E54E}"/>
              </a:ext>
            </a:extLst>
          </p:cNvPr>
          <p:cNvSpPr/>
          <p:nvPr/>
        </p:nvSpPr>
        <p:spPr>
          <a:xfrm>
            <a:off x="2055994" y="3401959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3CFCDA-3533-2475-9192-97F67EAB83C8}"/>
              </a:ext>
            </a:extLst>
          </p:cNvPr>
          <p:cNvSpPr/>
          <p:nvPr/>
        </p:nvSpPr>
        <p:spPr>
          <a:xfrm>
            <a:off x="958644" y="4114798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E2BA6A-85FB-D885-C131-8EB28C546C26}"/>
              </a:ext>
            </a:extLst>
          </p:cNvPr>
          <p:cNvSpPr/>
          <p:nvPr/>
        </p:nvSpPr>
        <p:spPr>
          <a:xfrm>
            <a:off x="1334376" y="4119714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B34270-2829-BB97-3566-06C25A781E5D}"/>
              </a:ext>
            </a:extLst>
          </p:cNvPr>
          <p:cNvSpPr/>
          <p:nvPr/>
        </p:nvSpPr>
        <p:spPr>
          <a:xfrm>
            <a:off x="1698170" y="4119714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352038-A66F-4F50-FF4E-017B1C810781}"/>
              </a:ext>
            </a:extLst>
          </p:cNvPr>
          <p:cNvSpPr/>
          <p:nvPr/>
        </p:nvSpPr>
        <p:spPr>
          <a:xfrm>
            <a:off x="2065826" y="4119714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0F82DB-F90D-29C3-DFF3-7132CE0DA8DB}"/>
              </a:ext>
            </a:extLst>
          </p:cNvPr>
          <p:cNvSpPr/>
          <p:nvPr/>
        </p:nvSpPr>
        <p:spPr>
          <a:xfrm>
            <a:off x="958642" y="3760836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60A7E2-62EF-4E11-8ECE-E2346C85EC35}"/>
              </a:ext>
            </a:extLst>
          </p:cNvPr>
          <p:cNvSpPr/>
          <p:nvPr/>
        </p:nvSpPr>
        <p:spPr>
          <a:xfrm>
            <a:off x="1334374" y="3765752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D5F81-5347-FDF6-20E0-C1C9FC79AA71}"/>
              </a:ext>
            </a:extLst>
          </p:cNvPr>
          <p:cNvSpPr/>
          <p:nvPr/>
        </p:nvSpPr>
        <p:spPr>
          <a:xfrm>
            <a:off x="1698168" y="3765752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3AD504-5695-541D-C20B-91315832F216}"/>
              </a:ext>
            </a:extLst>
          </p:cNvPr>
          <p:cNvSpPr/>
          <p:nvPr/>
        </p:nvSpPr>
        <p:spPr>
          <a:xfrm>
            <a:off x="2065824" y="3765752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79B201-C060-6232-6719-D1EC6A28B301}"/>
              </a:ext>
            </a:extLst>
          </p:cNvPr>
          <p:cNvCxnSpPr>
            <a:cxnSpLocks/>
          </p:cNvCxnSpPr>
          <p:nvPr/>
        </p:nvCxnSpPr>
        <p:spPr>
          <a:xfrm>
            <a:off x="2664542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450841-AE6F-C8EC-1D66-A60879757809}"/>
              </a:ext>
            </a:extLst>
          </p:cNvPr>
          <p:cNvCxnSpPr>
            <a:cxnSpLocks/>
          </p:cNvCxnSpPr>
          <p:nvPr/>
        </p:nvCxnSpPr>
        <p:spPr>
          <a:xfrm>
            <a:off x="2669459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990484-9A33-8E3F-8941-1541D545DFEF}"/>
              </a:ext>
            </a:extLst>
          </p:cNvPr>
          <p:cNvCxnSpPr>
            <a:cxnSpLocks/>
          </p:cNvCxnSpPr>
          <p:nvPr/>
        </p:nvCxnSpPr>
        <p:spPr>
          <a:xfrm>
            <a:off x="2664542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6E7B6C-8AE1-CDEB-A926-DA7D5BDE7908}"/>
              </a:ext>
            </a:extLst>
          </p:cNvPr>
          <p:cNvCxnSpPr>
            <a:cxnSpLocks/>
          </p:cNvCxnSpPr>
          <p:nvPr/>
        </p:nvCxnSpPr>
        <p:spPr>
          <a:xfrm>
            <a:off x="2664542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2BDE6B-C3E1-D8AD-5749-EAABFA0B9B17}"/>
              </a:ext>
            </a:extLst>
          </p:cNvPr>
          <p:cNvCxnSpPr>
            <a:cxnSpLocks/>
          </p:cNvCxnSpPr>
          <p:nvPr/>
        </p:nvCxnSpPr>
        <p:spPr>
          <a:xfrm>
            <a:off x="263364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356A02A-7A0F-C0FA-B0A7-A96B11F6B966}"/>
              </a:ext>
            </a:extLst>
          </p:cNvPr>
          <p:cNvCxnSpPr>
            <a:cxnSpLocks/>
          </p:cNvCxnSpPr>
          <p:nvPr/>
        </p:nvCxnSpPr>
        <p:spPr>
          <a:xfrm>
            <a:off x="268281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4FF42A-43E3-F559-8662-0E8BE3112BAF}"/>
              </a:ext>
            </a:extLst>
          </p:cNvPr>
          <p:cNvCxnSpPr>
            <a:cxnSpLocks/>
          </p:cNvCxnSpPr>
          <p:nvPr/>
        </p:nvCxnSpPr>
        <p:spPr>
          <a:xfrm>
            <a:off x="263364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0EDFAFF-B326-DBFD-730E-A36F43DB5BBE}"/>
              </a:ext>
            </a:extLst>
          </p:cNvPr>
          <p:cNvCxnSpPr>
            <a:cxnSpLocks/>
          </p:cNvCxnSpPr>
          <p:nvPr/>
        </p:nvCxnSpPr>
        <p:spPr>
          <a:xfrm>
            <a:off x="263364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0342A95-AC8D-41FA-53F6-04F6DA602331}"/>
              </a:ext>
            </a:extLst>
          </p:cNvPr>
          <p:cNvCxnSpPr>
            <a:cxnSpLocks/>
          </p:cNvCxnSpPr>
          <p:nvPr/>
        </p:nvCxnSpPr>
        <p:spPr>
          <a:xfrm>
            <a:off x="1113148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EE166AC-EE11-D5C6-77C3-8CBA99DC6FE0}"/>
              </a:ext>
            </a:extLst>
          </p:cNvPr>
          <p:cNvCxnSpPr>
            <a:cxnSpLocks/>
          </p:cNvCxnSpPr>
          <p:nvPr/>
        </p:nvCxnSpPr>
        <p:spPr>
          <a:xfrm>
            <a:off x="1472026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15B88A-845C-A5F5-5730-D9A7BEF5298D}"/>
              </a:ext>
            </a:extLst>
          </p:cNvPr>
          <p:cNvCxnSpPr>
            <a:cxnSpLocks/>
          </p:cNvCxnSpPr>
          <p:nvPr/>
        </p:nvCxnSpPr>
        <p:spPr>
          <a:xfrm>
            <a:off x="1840735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04119C-FBD8-EE15-3B29-916AFE757310}"/>
              </a:ext>
            </a:extLst>
          </p:cNvPr>
          <p:cNvCxnSpPr>
            <a:cxnSpLocks/>
          </p:cNvCxnSpPr>
          <p:nvPr/>
        </p:nvCxnSpPr>
        <p:spPr>
          <a:xfrm>
            <a:off x="2165199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58B4900-EF3F-017C-224E-06D36AF276C6}"/>
              </a:ext>
            </a:extLst>
          </p:cNvPr>
          <p:cNvCxnSpPr>
            <a:cxnSpLocks/>
          </p:cNvCxnSpPr>
          <p:nvPr/>
        </p:nvCxnSpPr>
        <p:spPr>
          <a:xfrm>
            <a:off x="1129999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26FB8B71-96D1-008B-13E0-241879ED8615}"/>
              </a:ext>
            </a:extLst>
          </p:cNvPr>
          <p:cNvCxnSpPr>
            <a:cxnSpLocks/>
          </p:cNvCxnSpPr>
          <p:nvPr/>
        </p:nvCxnSpPr>
        <p:spPr>
          <a:xfrm>
            <a:off x="1488877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CB25B940-5365-6476-F96F-8323EE290154}"/>
              </a:ext>
            </a:extLst>
          </p:cNvPr>
          <p:cNvCxnSpPr>
            <a:cxnSpLocks/>
          </p:cNvCxnSpPr>
          <p:nvPr/>
        </p:nvCxnSpPr>
        <p:spPr>
          <a:xfrm>
            <a:off x="1857586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Straight Connector 2050">
            <a:extLst>
              <a:ext uri="{FF2B5EF4-FFF2-40B4-BE49-F238E27FC236}">
                <a16:creationId xmlns:a16="http://schemas.microsoft.com/office/drawing/2014/main" id="{AE1C42FD-29D1-486C-3DAA-3B8642A1C1C6}"/>
              </a:ext>
            </a:extLst>
          </p:cNvPr>
          <p:cNvCxnSpPr>
            <a:cxnSpLocks/>
          </p:cNvCxnSpPr>
          <p:nvPr/>
        </p:nvCxnSpPr>
        <p:spPr>
          <a:xfrm>
            <a:off x="2182050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8" name="Rectangle: Rounded Corners 2067">
            <a:extLst>
              <a:ext uri="{FF2B5EF4-FFF2-40B4-BE49-F238E27FC236}">
                <a16:creationId xmlns:a16="http://schemas.microsoft.com/office/drawing/2014/main" id="{3712A082-8411-E8E7-8044-D0C21BC5CE73}"/>
              </a:ext>
            </a:extLst>
          </p:cNvPr>
          <p:cNvSpPr/>
          <p:nvPr/>
        </p:nvSpPr>
        <p:spPr>
          <a:xfrm>
            <a:off x="3597904" y="2814609"/>
            <a:ext cx="1983306" cy="185571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8FFF5484-F0B5-D5A4-D14D-1118D82E9942}"/>
              </a:ext>
            </a:extLst>
          </p:cNvPr>
          <p:cNvSpPr/>
          <p:nvPr/>
        </p:nvSpPr>
        <p:spPr>
          <a:xfrm>
            <a:off x="3742578" y="2910348"/>
            <a:ext cx="1710813" cy="16518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5AB1E0E9-1AB4-CBAA-4628-4488A6CDB9D7}"/>
              </a:ext>
            </a:extLst>
          </p:cNvPr>
          <p:cNvSpPr/>
          <p:nvPr/>
        </p:nvSpPr>
        <p:spPr>
          <a:xfrm>
            <a:off x="3860565" y="3047998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0408463D-5E53-0B45-A7A9-049C2F962D62}"/>
              </a:ext>
            </a:extLst>
          </p:cNvPr>
          <p:cNvSpPr/>
          <p:nvPr/>
        </p:nvSpPr>
        <p:spPr>
          <a:xfrm>
            <a:off x="4236297" y="30529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8D1DABBF-1FC5-B516-5A6A-30EBFB60411D}"/>
              </a:ext>
            </a:extLst>
          </p:cNvPr>
          <p:cNvSpPr/>
          <p:nvPr/>
        </p:nvSpPr>
        <p:spPr>
          <a:xfrm>
            <a:off x="4600091" y="30529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886C06EA-E8A8-B559-ADC6-D9B267918759}"/>
              </a:ext>
            </a:extLst>
          </p:cNvPr>
          <p:cNvSpPr/>
          <p:nvPr/>
        </p:nvSpPr>
        <p:spPr>
          <a:xfrm>
            <a:off x="4967747" y="30529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232F28CE-8E28-BF4E-2970-C1032E722856}"/>
              </a:ext>
            </a:extLst>
          </p:cNvPr>
          <p:cNvSpPr/>
          <p:nvPr/>
        </p:nvSpPr>
        <p:spPr>
          <a:xfrm>
            <a:off x="3865480" y="3397043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9E1B0979-7307-F18F-24DB-C3549B361A5C}"/>
              </a:ext>
            </a:extLst>
          </p:cNvPr>
          <p:cNvSpPr/>
          <p:nvPr/>
        </p:nvSpPr>
        <p:spPr>
          <a:xfrm>
            <a:off x="4241212" y="3401959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9FD7D425-46F9-9FBA-CC10-618E28A7E074}"/>
              </a:ext>
            </a:extLst>
          </p:cNvPr>
          <p:cNvSpPr/>
          <p:nvPr/>
        </p:nvSpPr>
        <p:spPr>
          <a:xfrm>
            <a:off x="4605006" y="3401959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0F811013-E046-416F-0F21-DAD226DD2DAB}"/>
              </a:ext>
            </a:extLst>
          </p:cNvPr>
          <p:cNvSpPr/>
          <p:nvPr/>
        </p:nvSpPr>
        <p:spPr>
          <a:xfrm>
            <a:off x="4972662" y="3401959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87D1949A-785C-A6EA-2353-1B94DE5AE272}"/>
              </a:ext>
            </a:extLst>
          </p:cNvPr>
          <p:cNvSpPr/>
          <p:nvPr/>
        </p:nvSpPr>
        <p:spPr>
          <a:xfrm>
            <a:off x="3875312" y="4114798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BC69893F-12BF-2CFC-F3B1-E7270D532099}"/>
              </a:ext>
            </a:extLst>
          </p:cNvPr>
          <p:cNvSpPr/>
          <p:nvPr/>
        </p:nvSpPr>
        <p:spPr>
          <a:xfrm>
            <a:off x="4251044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82C915B3-CF1E-ED26-A486-65262AD5D511}"/>
              </a:ext>
            </a:extLst>
          </p:cNvPr>
          <p:cNvSpPr/>
          <p:nvPr/>
        </p:nvSpPr>
        <p:spPr>
          <a:xfrm>
            <a:off x="4614838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866E45A6-E131-B9B6-BA6E-DD2997B9C6E8}"/>
              </a:ext>
            </a:extLst>
          </p:cNvPr>
          <p:cNvSpPr/>
          <p:nvPr/>
        </p:nvSpPr>
        <p:spPr>
          <a:xfrm>
            <a:off x="4982494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C01E432B-A9C7-F5C0-F60B-10E42E519C72}"/>
              </a:ext>
            </a:extLst>
          </p:cNvPr>
          <p:cNvSpPr/>
          <p:nvPr/>
        </p:nvSpPr>
        <p:spPr>
          <a:xfrm>
            <a:off x="3875310" y="3760836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E76CF206-8583-0B93-FCFE-60C7CFDB7CF3}"/>
              </a:ext>
            </a:extLst>
          </p:cNvPr>
          <p:cNvSpPr/>
          <p:nvPr/>
        </p:nvSpPr>
        <p:spPr>
          <a:xfrm>
            <a:off x="4251042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CD04A1C1-0E91-8B8A-96BD-D7D12113B256}"/>
              </a:ext>
            </a:extLst>
          </p:cNvPr>
          <p:cNvSpPr/>
          <p:nvPr/>
        </p:nvSpPr>
        <p:spPr>
          <a:xfrm>
            <a:off x="4614836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0E04C7B1-C183-90CF-1074-0B5BDFEEE914}"/>
              </a:ext>
            </a:extLst>
          </p:cNvPr>
          <p:cNvSpPr/>
          <p:nvPr/>
        </p:nvSpPr>
        <p:spPr>
          <a:xfrm>
            <a:off x="4982492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6" name="Straight Connector 2085">
            <a:extLst>
              <a:ext uri="{FF2B5EF4-FFF2-40B4-BE49-F238E27FC236}">
                <a16:creationId xmlns:a16="http://schemas.microsoft.com/office/drawing/2014/main" id="{D44B1F0C-DB2B-22F8-1A09-CE179B7F7BE8}"/>
              </a:ext>
            </a:extLst>
          </p:cNvPr>
          <p:cNvCxnSpPr>
            <a:cxnSpLocks/>
          </p:cNvCxnSpPr>
          <p:nvPr/>
        </p:nvCxnSpPr>
        <p:spPr>
          <a:xfrm>
            <a:off x="5581210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7" name="Straight Connector 2086">
            <a:extLst>
              <a:ext uri="{FF2B5EF4-FFF2-40B4-BE49-F238E27FC236}">
                <a16:creationId xmlns:a16="http://schemas.microsoft.com/office/drawing/2014/main" id="{BE30CFA5-8AAA-918A-FE0F-D7952667FEDE}"/>
              </a:ext>
            </a:extLst>
          </p:cNvPr>
          <p:cNvCxnSpPr>
            <a:cxnSpLocks/>
          </p:cNvCxnSpPr>
          <p:nvPr/>
        </p:nvCxnSpPr>
        <p:spPr>
          <a:xfrm>
            <a:off x="5586127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8" name="Straight Connector 2087">
            <a:extLst>
              <a:ext uri="{FF2B5EF4-FFF2-40B4-BE49-F238E27FC236}">
                <a16:creationId xmlns:a16="http://schemas.microsoft.com/office/drawing/2014/main" id="{362769F3-CF0A-6631-DA2C-7A4936BE20BA}"/>
              </a:ext>
            </a:extLst>
          </p:cNvPr>
          <p:cNvCxnSpPr>
            <a:cxnSpLocks/>
          </p:cNvCxnSpPr>
          <p:nvPr/>
        </p:nvCxnSpPr>
        <p:spPr>
          <a:xfrm>
            <a:off x="5581210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Straight Connector 2088">
            <a:extLst>
              <a:ext uri="{FF2B5EF4-FFF2-40B4-BE49-F238E27FC236}">
                <a16:creationId xmlns:a16="http://schemas.microsoft.com/office/drawing/2014/main" id="{D3AA5AC2-9B8D-2F1A-B9E8-59B56306EB8B}"/>
              </a:ext>
            </a:extLst>
          </p:cNvPr>
          <p:cNvCxnSpPr>
            <a:cxnSpLocks/>
          </p:cNvCxnSpPr>
          <p:nvPr/>
        </p:nvCxnSpPr>
        <p:spPr>
          <a:xfrm>
            <a:off x="5581210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Straight Connector 2089">
            <a:extLst>
              <a:ext uri="{FF2B5EF4-FFF2-40B4-BE49-F238E27FC236}">
                <a16:creationId xmlns:a16="http://schemas.microsoft.com/office/drawing/2014/main" id="{F95770A5-9F9A-4326-D3B0-E2A1927BED7E}"/>
              </a:ext>
            </a:extLst>
          </p:cNvPr>
          <p:cNvCxnSpPr>
            <a:cxnSpLocks/>
          </p:cNvCxnSpPr>
          <p:nvPr/>
        </p:nvCxnSpPr>
        <p:spPr>
          <a:xfrm>
            <a:off x="3180032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Straight Connector 2090">
            <a:extLst>
              <a:ext uri="{FF2B5EF4-FFF2-40B4-BE49-F238E27FC236}">
                <a16:creationId xmlns:a16="http://schemas.microsoft.com/office/drawing/2014/main" id="{E6DDE929-9B58-F063-939C-6EA674CA3501}"/>
              </a:ext>
            </a:extLst>
          </p:cNvPr>
          <p:cNvCxnSpPr>
            <a:cxnSpLocks/>
          </p:cNvCxnSpPr>
          <p:nvPr/>
        </p:nvCxnSpPr>
        <p:spPr>
          <a:xfrm>
            <a:off x="3184949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Straight Connector 2091">
            <a:extLst>
              <a:ext uri="{FF2B5EF4-FFF2-40B4-BE49-F238E27FC236}">
                <a16:creationId xmlns:a16="http://schemas.microsoft.com/office/drawing/2014/main" id="{6819EDAD-5C34-8D0A-B167-569AB6B8B167}"/>
              </a:ext>
            </a:extLst>
          </p:cNvPr>
          <p:cNvCxnSpPr>
            <a:cxnSpLocks/>
          </p:cNvCxnSpPr>
          <p:nvPr/>
        </p:nvCxnSpPr>
        <p:spPr>
          <a:xfrm>
            <a:off x="3180032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" name="Straight Connector 2092">
            <a:extLst>
              <a:ext uri="{FF2B5EF4-FFF2-40B4-BE49-F238E27FC236}">
                <a16:creationId xmlns:a16="http://schemas.microsoft.com/office/drawing/2014/main" id="{894C5068-9399-B335-C0B7-4E5CE0519854}"/>
              </a:ext>
            </a:extLst>
          </p:cNvPr>
          <p:cNvCxnSpPr>
            <a:cxnSpLocks/>
          </p:cNvCxnSpPr>
          <p:nvPr/>
        </p:nvCxnSpPr>
        <p:spPr>
          <a:xfrm>
            <a:off x="3180032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4" name="Straight Connector 2093">
            <a:extLst>
              <a:ext uri="{FF2B5EF4-FFF2-40B4-BE49-F238E27FC236}">
                <a16:creationId xmlns:a16="http://schemas.microsoft.com/office/drawing/2014/main" id="{7D95A62A-C7F0-8906-5B27-63A20AA6C691}"/>
              </a:ext>
            </a:extLst>
          </p:cNvPr>
          <p:cNvCxnSpPr>
            <a:cxnSpLocks/>
          </p:cNvCxnSpPr>
          <p:nvPr/>
        </p:nvCxnSpPr>
        <p:spPr>
          <a:xfrm>
            <a:off x="4029816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Straight Connector 2094">
            <a:extLst>
              <a:ext uri="{FF2B5EF4-FFF2-40B4-BE49-F238E27FC236}">
                <a16:creationId xmlns:a16="http://schemas.microsoft.com/office/drawing/2014/main" id="{7B192C4E-BE85-B97D-30E9-2493B58B6246}"/>
              </a:ext>
            </a:extLst>
          </p:cNvPr>
          <p:cNvCxnSpPr>
            <a:cxnSpLocks/>
          </p:cNvCxnSpPr>
          <p:nvPr/>
        </p:nvCxnSpPr>
        <p:spPr>
          <a:xfrm>
            <a:off x="4388694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6" name="Straight Connector 2095">
            <a:extLst>
              <a:ext uri="{FF2B5EF4-FFF2-40B4-BE49-F238E27FC236}">
                <a16:creationId xmlns:a16="http://schemas.microsoft.com/office/drawing/2014/main" id="{4D69948A-5D82-E614-6635-A8F21E29DB8F}"/>
              </a:ext>
            </a:extLst>
          </p:cNvPr>
          <p:cNvCxnSpPr>
            <a:cxnSpLocks/>
          </p:cNvCxnSpPr>
          <p:nvPr/>
        </p:nvCxnSpPr>
        <p:spPr>
          <a:xfrm>
            <a:off x="4757403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" name="Straight Connector 2096">
            <a:extLst>
              <a:ext uri="{FF2B5EF4-FFF2-40B4-BE49-F238E27FC236}">
                <a16:creationId xmlns:a16="http://schemas.microsoft.com/office/drawing/2014/main" id="{BE010033-0386-DB12-9404-281B10607D73}"/>
              </a:ext>
            </a:extLst>
          </p:cNvPr>
          <p:cNvCxnSpPr>
            <a:cxnSpLocks/>
          </p:cNvCxnSpPr>
          <p:nvPr/>
        </p:nvCxnSpPr>
        <p:spPr>
          <a:xfrm>
            <a:off x="5081867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Straight Connector 2097">
            <a:extLst>
              <a:ext uri="{FF2B5EF4-FFF2-40B4-BE49-F238E27FC236}">
                <a16:creationId xmlns:a16="http://schemas.microsoft.com/office/drawing/2014/main" id="{AC695069-639A-7A5C-9DC2-D86524DDE938}"/>
              </a:ext>
            </a:extLst>
          </p:cNvPr>
          <p:cNvCxnSpPr>
            <a:cxnSpLocks/>
          </p:cNvCxnSpPr>
          <p:nvPr/>
        </p:nvCxnSpPr>
        <p:spPr>
          <a:xfrm>
            <a:off x="4046667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9" name="Straight Connector 2098">
            <a:extLst>
              <a:ext uri="{FF2B5EF4-FFF2-40B4-BE49-F238E27FC236}">
                <a16:creationId xmlns:a16="http://schemas.microsoft.com/office/drawing/2014/main" id="{2ED96F7C-B8A8-2A9A-6F08-426548C6D55E}"/>
              </a:ext>
            </a:extLst>
          </p:cNvPr>
          <p:cNvCxnSpPr>
            <a:cxnSpLocks/>
          </p:cNvCxnSpPr>
          <p:nvPr/>
        </p:nvCxnSpPr>
        <p:spPr>
          <a:xfrm>
            <a:off x="4405545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Straight Connector 2099">
            <a:extLst>
              <a:ext uri="{FF2B5EF4-FFF2-40B4-BE49-F238E27FC236}">
                <a16:creationId xmlns:a16="http://schemas.microsoft.com/office/drawing/2014/main" id="{91DE67BA-68A3-00CA-3D4A-09673D60AB98}"/>
              </a:ext>
            </a:extLst>
          </p:cNvPr>
          <p:cNvCxnSpPr>
            <a:cxnSpLocks/>
          </p:cNvCxnSpPr>
          <p:nvPr/>
        </p:nvCxnSpPr>
        <p:spPr>
          <a:xfrm>
            <a:off x="4774254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Straight Connector 2100">
            <a:extLst>
              <a:ext uri="{FF2B5EF4-FFF2-40B4-BE49-F238E27FC236}">
                <a16:creationId xmlns:a16="http://schemas.microsoft.com/office/drawing/2014/main" id="{B62F0055-9197-409E-477C-ECCC90A6DB3C}"/>
              </a:ext>
            </a:extLst>
          </p:cNvPr>
          <p:cNvCxnSpPr>
            <a:cxnSpLocks/>
          </p:cNvCxnSpPr>
          <p:nvPr/>
        </p:nvCxnSpPr>
        <p:spPr>
          <a:xfrm>
            <a:off x="5098718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2" name="Rectangle: Rounded Corners 2101">
            <a:extLst>
              <a:ext uri="{FF2B5EF4-FFF2-40B4-BE49-F238E27FC236}">
                <a16:creationId xmlns:a16="http://schemas.microsoft.com/office/drawing/2014/main" id="{3E973E33-74D5-5E41-2FC8-6B68C89A0C4D}"/>
              </a:ext>
            </a:extLst>
          </p:cNvPr>
          <p:cNvSpPr/>
          <p:nvPr/>
        </p:nvSpPr>
        <p:spPr>
          <a:xfrm>
            <a:off x="6593935" y="2814609"/>
            <a:ext cx="1983306" cy="185571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62F826E1-C0BF-4070-FB96-436CE34B7C74}"/>
              </a:ext>
            </a:extLst>
          </p:cNvPr>
          <p:cNvSpPr/>
          <p:nvPr/>
        </p:nvSpPr>
        <p:spPr>
          <a:xfrm>
            <a:off x="6738609" y="2910348"/>
            <a:ext cx="1710813" cy="16518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BB4938F6-35F7-AA8A-0BBD-087959DB222B}"/>
              </a:ext>
            </a:extLst>
          </p:cNvPr>
          <p:cNvSpPr/>
          <p:nvPr/>
        </p:nvSpPr>
        <p:spPr>
          <a:xfrm>
            <a:off x="6856596" y="3047998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9CE38423-6BFD-4A3B-9E5A-346827C22CE6}"/>
              </a:ext>
            </a:extLst>
          </p:cNvPr>
          <p:cNvSpPr/>
          <p:nvPr/>
        </p:nvSpPr>
        <p:spPr>
          <a:xfrm>
            <a:off x="7232328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B52CCAAF-51D6-17B0-D583-0F4325FDAAA3}"/>
              </a:ext>
            </a:extLst>
          </p:cNvPr>
          <p:cNvSpPr/>
          <p:nvPr/>
        </p:nvSpPr>
        <p:spPr>
          <a:xfrm>
            <a:off x="7596122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2826CD5A-7B21-4EBE-35B3-B57FCE18B382}"/>
              </a:ext>
            </a:extLst>
          </p:cNvPr>
          <p:cNvSpPr/>
          <p:nvPr/>
        </p:nvSpPr>
        <p:spPr>
          <a:xfrm>
            <a:off x="7963778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8" name="Rectangle 2107">
            <a:extLst>
              <a:ext uri="{FF2B5EF4-FFF2-40B4-BE49-F238E27FC236}">
                <a16:creationId xmlns:a16="http://schemas.microsoft.com/office/drawing/2014/main" id="{27BA12BC-260A-076A-F45A-2C92FD8792FD}"/>
              </a:ext>
            </a:extLst>
          </p:cNvPr>
          <p:cNvSpPr/>
          <p:nvPr/>
        </p:nvSpPr>
        <p:spPr>
          <a:xfrm>
            <a:off x="6861511" y="3397043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A2218813-9B59-A102-BCB9-BC102B70944E}"/>
              </a:ext>
            </a:extLst>
          </p:cNvPr>
          <p:cNvSpPr/>
          <p:nvPr/>
        </p:nvSpPr>
        <p:spPr>
          <a:xfrm>
            <a:off x="7237243" y="3401959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0" name="Rectangle 2109">
            <a:extLst>
              <a:ext uri="{FF2B5EF4-FFF2-40B4-BE49-F238E27FC236}">
                <a16:creationId xmlns:a16="http://schemas.microsoft.com/office/drawing/2014/main" id="{797C36F3-E460-C71F-8527-797ED9B713BE}"/>
              </a:ext>
            </a:extLst>
          </p:cNvPr>
          <p:cNvSpPr/>
          <p:nvPr/>
        </p:nvSpPr>
        <p:spPr>
          <a:xfrm>
            <a:off x="7601037" y="3401959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Rectangle 2110">
            <a:extLst>
              <a:ext uri="{FF2B5EF4-FFF2-40B4-BE49-F238E27FC236}">
                <a16:creationId xmlns:a16="http://schemas.microsoft.com/office/drawing/2014/main" id="{D2567CDC-4E65-1CE8-A561-1A8255602C3B}"/>
              </a:ext>
            </a:extLst>
          </p:cNvPr>
          <p:cNvSpPr/>
          <p:nvPr/>
        </p:nvSpPr>
        <p:spPr>
          <a:xfrm>
            <a:off x="7968693" y="3401959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9A8442BD-0961-BC8B-0F88-6799AE6A241F}"/>
              </a:ext>
            </a:extLst>
          </p:cNvPr>
          <p:cNvSpPr/>
          <p:nvPr/>
        </p:nvSpPr>
        <p:spPr>
          <a:xfrm>
            <a:off x="6871343" y="4114798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3" name="Rectangle 2112">
            <a:extLst>
              <a:ext uri="{FF2B5EF4-FFF2-40B4-BE49-F238E27FC236}">
                <a16:creationId xmlns:a16="http://schemas.microsoft.com/office/drawing/2014/main" id="{AEBFE33F-2579-C638-422C-5DC578CC6E6D}"/>
              </a:ext>
            </a:extLst>
          </p:cNvPr>
          <p:cNvSpPr/>
          <p:nvPr/>
        </p:nvSpPr>
        <p:spPr>
          <a:xfrm>
            <a:off x="7247075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4" name="Rectangle 2113">
            <a:extLst>
              <a:ext uri="{FF2B5EF4-FFF2-40B4-BE49-F238E27FC236}">
                <a16:creationId xmlns:a16="http://schemas.microsoft.com/office/drawing/2014/main" id="{9813AD98-D89D-3DC1-EE56-C67D9F1EC5ED}"/>
              </a:ext>
            </a:extLst>
          </p:cNvPr>
          <p:cNvSpPr/>
          <p:nvPr/>
        </p:nvSpPr>
        <p:spPr>
          <a:xfrm>
            <a:off x="7610869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54AD74D7-C483-1E24-8FDE-D0A9C4BF3F09}"/>
              </a:ext>
            </a:extLst>
          </p:cNvPr>
          <p:cNvSpPr/>
          <p:nvPr/>
        </p:nvSpPr>
        <p:spPr>
          <a:xfrm>
            <a:off x="7978525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32C34FA4-7C82-1BD2-1F0D-6DF7B56A7BF1}"/>
              </a:ext>
            </a:extLst>
          </p:cNvPr>
          <p:cNvSpPr/>
          <p:nvPr/>
        </p:nvSpPr>
        <p:spPr>
          <a:xfrm>
            <a:off x="6871341" y="3760836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87E4D464-025C-4DE5-AEFA-EFD6D4D6816E}"/>
              </a:ext>
            </a:extLst>
          </p:cNvPr>
          <p:cNvSpPr/>
          <p:nvPr/>
        </p:nvSpPr>
        <p:spPr>
          <a:xfrm>
            <a:off x="7247073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F9664DFE-DCF0-3B52-0E70-5E27F18B895E}"/>
              </a:ext>
            </a:extLst>
          </p:cNvPr>
          <p:cNvSpPr/>
          <p:nvPr/>
        </p:nvSpPr>
        <p:spPr>
          <a:xfrm>
            <a:off x="7610867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6D71A27D-4603-70D8-1C66-AFA447EF582E}"/>
              </a:ext>
            </a:extLst>
          </p:cNvPr>
          <p:cNvSpPr/>
          <p:nvPr/>
        </p:nvSpPr>
        <p:spPr>
          <a:xfrm>
            <a:off x="7978523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20" name="Straight Connector 2119">
            <a:extLst>
              <a:ext uri="{FF2B5EF4-FFF2-40B4-BE49-F238E27FC236}">
                <a16:creationId xmlns:a16="http://schemas.microsoft.com/office/drawing/2014/main" id="{5D0D6A59-70B4-6CB3-09DB-463AF2C97671}"/>
              </a:ext>
            </a:extLst>
          </p:cNvPr>
          <p:cNvCxnSpPr>
            <a:cxnSpLocks/>
          </p:cNvCxnSpPr>
          <p:nvPr/>
        </p:nvCxnSpPr>
        <p:spPr>
          <a:xfrm>
            <a:off x="8577241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1" name="Straight Connector 2120">
            <a:extLst>
              <a:ext uri="{FF2B5EF4-FFF2-40B4-BE49-F238E27FC236}">
                <a16:creationId xmlns:a16="http://schemas.microsoft.com/office/drawing/2014/main" id="{A53F0181-8F54-8858-0FB2-A373C6D85FA5}"/>
              </a:ext>
            </a:extLst>
          </p:cNvPr>
          <p:cNvCxnSpPr>
            <a:cxnSpLocks/>
          </p:cNvCxnSpPr>
          <p:nvPr/>
        </p:nvCxnSpPr>
        <p:spPr>
          <a:xfrm>
            <a:off x="8582158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Straight Connector 2121">
            <a:extLst>
              <a:ext uri="{FF2B5EF4-FFF2-40B4-BE49-F238E27FC236}">
                <a16:creationId xmlns:a16="http://schemas.microsoft.com/office/drawing/2014/main" id="{9899078B-FE1E-9FB4-3299-1FFB35684352}"/>
              </a:ext>
            </a:extLst>
          </p:cNvPr>
          <p:cNvCxnSpPr>
            <a:cxnSpLocks/>
          </p:cNvCxnSpPr>
          <p:nvPr/>
        </p:nvCxnSpPr>
        <p:spPr>
          <a:xfrm>
            <a:off x="8577241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Straight Connector 2122">
            <a:extLst>
              <a:ext uri="{FF2B5EF4-FFF2-40B4-BE49-F238E27FC236}">
                <a16:creationId xmlns:a16="http://schemas.microsoft.com/office/drawing/2014/main" id="{676ABB39-5AD7-0BBF-33D0-A1D6AD4B0136}"/>
              </a:ext>
            </a:extLst>
          </p:cNvPr>
          <p:cNvCxnSpPr>
            <a:cxnSpLocks/>
          </p:cNvCxnSpPr>
          <p:nvPr/>
        </p:nvCxnSpPr>
        <p:spPr>
          <a:xfrm>
            <a:off x="8577241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Straight Connector 2123">
            <a:extLst>
              <a:ext uri="{FF2B5EF4-FFF2-40B4-BE49-F238E27FC236}">
                <a16:creationId xmlns:a16="http://schemas.microsoft.com/office/drawing/2014/main" id="{7D5CC6A7-83D0-4CC2-F369-AF769A805AE3}"/>
              </a:ext>
            </a:extLst>
          </p:cNvPr>
          <p:cNvCxnSpPr>
            <a:cxnSpLocks/>
          </p:cNvCxnSpPr>
          <p:nvPr/>
        </p:nvCxnSpPr>
        <p:spPr>
          <a:xfrm>
            <a:off x="6176063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Straight Connector 2124">
            <a:extLst>
              <a:ext uri="{FF2B5EF4-FFF2-40B4-BE49-F238E27FC236}">
                <a16:creationId xmlns:a16="http://schemas.microsoft.com/office/drawing/2014/main" id="{51DC79A4-7772-445F-3266-A8F212D11423}"/>
              </a:ext>
            </a:extLst>
          </p:cNvPr>
          <p:cNvCxnSpPr>
            <a:cxnSpLocks/>
          </p:cNvCxnSpPr>
          <p:nvPr/>
        </p:nvCxnSpPr>
        <p:spPr>
          <a:xfrm>
            <a:off x="6180980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6" name="Straight Connector 2125">
            <a:extLst>
              <a:ext uri="{FF2B5EF4-FFF2-40B4-BE49-F238E27FC236}">
                <a16:creationId xmlns:a16="http://schemas.microsoft.com/office/drawing/2014/main" id="{852808EA-B7A0-3A35-6C94-CA643839129F}"/>
              </a:ext>
            </a:extLst>
          </p:cNvPr>
          <p:cNvCxnSpPr>
            <a:cxnSpLocks/>
          </p:cNvCxnSpPr>
          <p:nvPr/>
        </p:nvCxnSpPr>
        <p:spPr>
          <a:xfrm>
            <a:off x="6176063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7" name="Straight Connector 2126">
            <a:extLst>
              <a:ext uri="{FF2B5EF4-FFF2-40B4-BE49-F238E27FC236}">
                <a16:creationId xmlns:a16="http://schemas.microsoft.com/office/drawing/2014/main" id="{113A4FD0-F98C-70CD-FD58-CB1570773072}"/>
              </a:ext>
            </a:extLst>
          </p:cNvPr>
          <p:cNvCxnSpPr>
            <a:cxnSpLocks/>
          </p:cNvCxnSpPr>
          <p:nvPr/>
        </p:nvCxnSpPr>
        <p:spPr>
          <a:xfrm>
            <a:off x="6176063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Straight Connector 2127">
            <a:extLst>
              <a:ext uri="{FF2B5EF4-FFF2-40B4-BE49-F238E27FC236}">
                <a16:creationId xmlns:a16="http://schemas.microsoft.com/office/drawing/2014/main" id="{A1394C98-EB07-8EC4-F9B7-0EC873668FA8}"/>
              </a:ext>
            </a:extLst>
          </p:cNvPr>
          <p:cNvCxnSpPr>
            <a:cxnSpLocks/>
          </p:cNvCxnSpPr>
          <p:nvPr/>
        </p:nvCxnSpPr>
        <p:spPr>
          <a:xfrm>
            <a:off x="7025847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9" name="Straight Connector 2128">
            <a:extLst>
              <a:ext uri="{FF2B5EF4-FFF2-40B4-BE49-F238E27FC236}">
                <a16:creationId xmlns:a16="http://schemas.microsoft.com/office/drawing/2014/main" id="{9F956B60-B087-C675-0C19-93DEE16F13F2}"/>
              </a:ext>
            </a:extLst>
          </p:cNvPr>
          <p:cNvCxnSpPr>
            <a:cxnSpLocks/>
          </p:cNvCxnSpPr>
          <p:nvPr/>
        </p:nvCxnSpPr>
        <p:spPr>
          <a:xfrm>
            <a:off x="7384725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0" name="Straight Connector 2129">
            <a:extLst>
              <a:ext uri="{FF2B5EF4-FFF2-40B4-BE49-F238E27FC236}">
                <a16:creationId xmlns:a16="http://schemas.microsoft.com/office/drawing/2014/main" id="{B5BA8061-F5D9-5636-2356-9BD47CC30820}"/>
              </a:ext>
            </a:extLst>
          </p:cNvPr>
          <p:cNvCxnSpPr>
            <a:cxnSpLocks/>
          </p:cNvCxnSpPr>
          <p:nvPr/>
        </p:nvCxnSpPr>
        <p:spPr>
          <a:xfrm>
            <a:off x="7753434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Straight Connector 2130">
            <a:extLst>
              <a:ext uri="{FF2B5EF4-FFF2-40B4-BE49-F238E27FC236}">
                <a16:creationId xmlns:a16="http://schemas.microsoft.com/office/drawing/2014/main" id="{C97C4D9F-7D37-E6F9-6940-184AB093057F}"/>
              </a:ext>
            </a:extLst>
          </p:cNvPr>
          <p:cNvCxnSpPr>
            <a:cxnSpLocks/>
          </p:cNvCxnSpPr>
          <p:nvPr/>
        </p:nvCxnSpPr>
        <p:spPr>
          <a:xfrm>
            <a:off x="8077898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2" name="Straight Connector 2131">
            <a:extLst>
              <a:ext uri="{FF2B5EF4-FFF2-40B4-BE49-F238E27FC236}">
                <a16:creationId xmlns:a16="http://schemas.microsoft.com/office/drawing/2014/main" id="{2B1DC6B9-E99C-F6ED-1B60-827AEA3F8EE6}"/>
              </a:ext>
            </a:extLst>
          </p:cNvPr>
          <p:cNvCxnSpPr>
            <a:cxnSpLocks/>
          </p:cNvCxnSpPr>
          <p:nvPr/>
        </p:nvCxnSpPr>
        <p:spPr>
          <a:xfrm>
            <a:off x="7042698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3" name="Straight Connector 2132">
            <a:extLst>
              <a:ext uri="{FF2B5EF4-FFF2-40B4-BE49-F238E27FC236}">
                <a16:creationId xmlns:a16="http://schemas.microsoft.com/office/drawing/2014/main" id="{9F1DEB5D-D840-0486-4E77-0A6B5D8176B3}"/>
              </a:ext>
            </a:extLst>
          </p:cNvPr>
          <p:cNvCxnSpPr>
            <a:cxnSpLocks/>
          </p:cNvCxnSpPr>
          <p:nvPr/>
        </p:nvCxnSpPr>
        <p:spPr>
          <a:xfrm>
            <a:off x="7401576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Straight Connector 2133">
            <a:extLst>
              <a:ext uri="{FF2B5EF4-FFF2-40B4-BE49-F238E27FC236}">
                <a16:creationId xmlns:a16="http://schemas.microsoft.com/office/drawing/2014/main" id="{547F6947-B42F-74C4-46D4-5E1425147376}"/>
              </a:ext>
            </a:extLst>
          </p:cNvPr>
          <p:cNvCxnSpPr>
            <a:cxnSpLocks/>
          </p:cNvCxnSpPr>
          <p:nvPr/>
        </p:nvCxnSpPr>
        <p:spPr>
          <a:xfrm>
            <a:off x="7770285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5" name="Straight Connector 2134">
            <a:extLst>
              <a:ext uri="{FF2B5EF4-FFF2-40B4-BE49-F238E27FC236}">
                <a16:creationId xmlns:a16="http://schemas.microsoft.com/office/drawing/2014/main" id="{FE7EB39F-F101-55FD-34FC-3B984D9D3CD4}"/>
              </a:ext>
            </a:extLst>
          </p:cNvPr>
          <p:cNvCxnSpPr>
            <a:cxnSpLocks/>
          </p:cNvCxnSpPr>
          <p:nvPr/>
        </p:nvCxnSpPr>
        <p:spPr>
          <a:xfrm>
            <a:off x="8094749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6" name="Rectangle: Rounded Corners 2135">
            <a:extLst>
              <a:ext uri="{FF2B5EF4-FFF2-40B4-BE49-F238E27FC236}">
                <a16:creationId xmlns:a16="http://schemas.microsoft.com/office/drawing/2014/main" id="{B35FB31C-6729-3EAC-29EE-37AA44054A5D}"/>
              </a:ext>
            </a:extLst>
          </p:cNvPr>
          <p:cNvSpPr/>
          <p:nvPr/>
        </p:nvSpPr>
        <p:spPr>
          <a:xfrm>
            <a:off x="9510603" y="2814609"/>
            <a:ext cx="1983306" cy="185571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7" name="Rectangle 2136">
            <a:extLst>
              <a:ext uri="{FF2B5EF4-FFF2-40B4-BE49-F238E27FC236}">
                <a16:creationId xmlns:a16="http://schemas.microsoft.com/office/drawing/2014/main" id="{3810CDC4-68B5-F0D1-6AF5-1D5F92477D46}"/>
              </a:ext>
            </a:extLst>
          </p:cNvPr>
          <p:cNvSpPr/>
          <p:nvPr/>
        </p:nvSpPr>
        <p:spPr>
          <a:xfrm>
            <a:off x="9655277" y="2910348"/>
            <a:ext cx="1710813" cy="16518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8" name="Rectangle 2137">
            <a:extLst>
              <a:ext uri="{FF2B5EF4-FFF2-40B4-BE49-F238E27FC236}">
                <a16:creationId xmlns:a16="http://schemas.microsoft.com/office/drawing/2014/main" id="{CE74034B-023B-64BE-A587-B0AC708E73D0}"/>
              </a:ext>
            </a:extLst>
          </p:cNvPr>
          <p:cNvSpPr/>
          <p:nvPr/>
        </p:nvSpPr>
        <p:spPr>
          <a:xfrm>
            <a:off x="9773264" y="3047998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9" name="Rectangle 2138">
            <a:extLst>
              <a:ext uri="{FF2B5EF4-FFF2-40B4-BE49-F238E27FC236}">
                <a16:creationId xmlns:a16="http://schemas.microsoft.com/office/drawing/2014/main" id="{5B45411A-202C-7747-6528-9581C63E3DB0}"/>
              </a:ext>
            </a:extLst>
          </p:cNvPr>
          <p:cNvSpPr/>
          <p:nvPr/>
        </p:nvSpPr>
        <p:spPr>
          <a:xfrm>
            <a:off x="10148996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0" name="Rectangle 2139">
            <a:extLst>
              <a:ext uri="{FF2B5EF4-FFF2-40B4-BE49-F238E27FC236}">
                <a16:creationId xmlns:a16="http://schemas.microsoft.com/office/drawing/2014/main" id="{D589A508-D3E2-0635-744E-A59EC636273E}"/>
              </a:ext>
            </a:extLst>
          </p:cNvPr>
          <p:cNvSpPr/>
          <p:nvPr/>
        </p:nvSpPr>
        <p:spPr>
          <a:xfrm>
            <a:off x="10512790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21F87732-2174-E875-2753-F7DFF12F88B1}"/>
              </a:ext>
            </a:extLst>
          </p:cNvPr>
          <p:cNvSpPr/>
          <p:nvPr/>
        </p:nvSpPr>
        <p:spPr>
          <a:xfrm>
            <a:off x="10880446" y="3052914"/>
            <a:ext cx="275303" cy="2753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2" name="Rectangle 2141">
            <a:extLst>
              <a:ext uri="{FF2B5EF4-FFF2-40B4-BE49-F238E27FC236}">
                <a16:creationId xmlns:a16="http://schemas.microsoft.com/office/drawing/2014/main" id="{06B44129-FD48-9022-C21E-33895EA01603}"/>
              </a:ext>
            </a:extLst>
          </p:cNvPr>
          <p:cNvSpPr/>
          <p:nvPr/>
        </p:nvSpPr>
        <p:spPr>
          <a:xfrm>
            <a:off x="9778179" y="3397043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070C4776-B38D-BD50-325A-D1CF9F607A44}"/>
              </a:ext>
            </a:extLst>
          </p:cNvPr>
          <p:cNvSpPr/>
          <p:nvPr/>
        </p:nvSpPr>
        <p:spPr>
          <a:xfrm>
            <a:off x="10153911" y="3401959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7672684B-DBA4-1015-F227-AF7DB728C6A3}"/>
              </a:ext>
            </a:extLst>
          </p:cNvPr>
          <p:cNvSpPr/>
          <p:nvPr/>
        </p:nvSpPr>
        <p:spPr>
          <a:xfrm>
            <a:off x="10517705" y="3401959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5" name="Rectangle 2144">
            <a:extLst>
              <a:ext uri="{FF2B5EF4-FFF2-40B4-BE49-F238E27FC236}">
                <a16:creationId xmlns:a16="http://schemas.microsoft.com/office/drawing/2014/main" id="{DF355E76-8B43-0452-5443-8C9EC8CB703E}"/>
              </a:ext>
            </a:extLst>
          </p:cNvPr>
          <p:cNvSpPr/>
          <p:nvPr/>
        </p:nvSpPr>
        <p:spPr>
          <a:xfrm>
            <a:off x="10885361" y="3401959"/>
            <a:ext cx="275303" cy="27530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6" name="Rectangle 2145">
            <a:extLst>
              <a:ext uri="{FF2B5EF4-FFF2-40B4-BE49-F238E27FC236}">
                <a16:creationId xmlns:a16="http://schemas.microsoft.com/office/drawing/2014/main" id="{81C6F276-FAB5-2B38-AC56-31EE1DE7BB95}"/>
              </a:ext>
            </a:extLst>
          </p:cNvPr>
          <p:cNvSpPr/>
          <p:nvPr/>
        </p:nvSpPr>
        <p:spPr>
          <a:xfrm>
            <a:off x="9788011" y="4114798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7" name="Rectangle 2146">
            <a:extLst>
              <a:ext uri="{FF2B5EF4-FFF2-40B4-BE49-F238E27FC236}">
                <a16:creationId xmlns:a16="http://schemas.microsoft.com/office/drawing/2014/main" id="{A209D82F-274F-20CA-C09A-BF85A5314360}"/>
              </a:ext>
            </a:extLst>
          </p:cNvPr>
          <p:cNvSpPr/>
          <p:nvPr/>
        </p:nvSpPr>
        <p:spPr>
          <a:xfrm>
            <a:off x="10163743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8" name="Rectangle 2147">
            <a:extLst>
              <a:ext uri="{FF2B5EF4-FFF2-40B4-BE49-F238E27FC236}">
                <a16:creationId xmlns:a16="http://schemas.microsoft.com/office/drawing/2014/main" id="{A19FBB00-6CC0-B29F-1C3D-44BDF34FD7D6}"/>
              </a:ext>
            </a:extLst>
          </p:cNvPr>
          <p:cNvSpPr/>
          <p:nvPr/>
        </p:nvSpPr>
        <p:spPr>
          <a:xfrm>
            <a:off x="10527537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9" name="Rectangle 2148">
            <a:extLst>
              <a:ext uri="{FF2B5EF4-FFF2-40B4-BE49-F238E27FC236}">
                <a16:creationId xmlns:a16="http://schemas.microsoft.com/office/drawing/2014/main" id="{5D27ABAE-F167-A108-5DB3-4933E34687DA}"/>
              </a:ext>
            </a:extLst>
          </p:cNvPr>
          <p:cNvSpPr/>
          <p:nvPr/>
        </p:nvSpPr>
        <p:spPr>
          <a:xfrm>
            <a:off x="10895193" y="4119714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" name="Rectangle 2149">
            <a:extLst>
              <a:ext uri="{FF2B5EF4-FFF2-40B4-BE49-F238E27FC236}">
                <a16:creationId xmlns:a16="http://schemas.microsoft.com/office/drawing/2014/main" id="{0BF05D0B-1D5F-C1DB-CE70-CD264E254B75}"/>
              </a:ext>
            </a:extLst>
          </p:cNvPr>
          <p:cNvSpPr/>
          <p:nvPr/>
        </p:nvSpPr>
        <p:spPr>
          <a:xfrm>
            <a:off x="9788009" y="3760836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" name="Rectangle 2150">
            <a:extLst>
              <a:ext uri="{FF2B5EF4-FFF2-40B4-BE49-F238E27FC236}">
                <a16:creationId xmlns:a16="http://schemas.microsoft.com/office/drawing/2014/main" id="{3A304276-7ECA-22B5-1212-9C8AE499066D}"/>
              </a:ext>
            </a:extLst>
          </p:cNvPr>
          <p:cNvSpPr/>
          <p:nvPr/>
        </p:nvSpPr>
        <p:spPr>
          <a:xfrm>
            <a:off x="10163741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" name="Rectangle 2151">
            <a:extLst>
              <a:ext uri="{FF2B5EF4-FFF2-40B4-BE49-F238E27FC236}">
                <a16:creationId xmlns:a16="http://schemas.microsoft.com/office/drawing/2014/main" id="{F894D4F9-C8DA-9192-2767-90D83F2C9A02}"/>
              </a:ext>
            </a:extLst>
          </p:cNvPr>
          <p:cNvSpPr/>
          <p:nvPr/>
        </p:nvSpPr>
        <p:spPr>
          <a:xfrm>
            <a:off x="10527535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3" name="Rectangle 2152">
            <a:extLst>
              <a:ext uri="{FF2B5EF4-FFF2-40B4-BE49-F238E27FC236}">
                <a16:creationId xmlns:a16="http://schemas.microsoft.com/office/drawing/2014/main" id="{726C5396-9B5F-EF9F-67B5-006BB3983BEA}"/>
              </a:ext>
            </a:extLst>
          </p:cNvPr>
          <p:cNvSpPr/>
          <p:nvPr/>
        </p:nvSpPr>
        <p:spPr>
          <a:xfrm>
            <a:off x="10895191" y="3765752"/>
            <a:ext cx="275303" cy="275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4" name="Straight Connector 2153">
            <a:extLst>
              <a:ext uri="{FF2B5EF4-FFF2-40B4-BE49-F238E27FC236}">
                <a16:creationId xmlns:a16="http://schemas.microsoft.com/office/drawing/2014/main" id="{507B0DED-071A-4176-A78A-37B6E3F5D326}"/>
              </a:ext>
            </a:extLst>
          </p:cNvPr>
          <p:cNvCxnSpPr>
            <a:cxnSpLocks/>
          </p:cNvCxnSpPr>
          <p:nvPr/>
        </p:nvCxnSpPr>
        <p:spPr>
          <a:xfrm>
            <a:off x="11493909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Straight Connector 2154">
            <a:extLst>
              <a:ext uri="{FF2B5EF4-FFF2-40B4-BE49-F238E27FC236}">
                <a16:creationId xmlns:a16="http://schemas.microsoft.com/office/drawing/2014/main" id="{6DAA2EF8-D68D-FEEE-3848-3112F4C1BC8C}"/>
              </a:ext>
            </a:extLst>
          </p:cNvPr>
          <p:cNvCxnSpPr>
            <a:cxnSpLocks/>
          </p:cNvCxnSpPr>
          <p:nvPr/>
        </p:nvCxnSpPr>
        <p:spPr>
          <a:xfrm>
            <a:off x="11498826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6" name="Straight Connector 2155">
            <a:extLst>
              <a:ext uri="{FF2B5EF4-FFF2-40B4-BE49-F238E27FC236}">
                <a16:creationId xmlns:a16="http://schemas.microsoft.com/office/drawing/2014/main" id="{90606492-5B9E-6DD7-2B91-87E52F4817ED}"/>
              </a:ext>
            </a:extLst>
          </p:cNvPr>
          <p:cNvCxnSpPr>
            <a:cxnSpLocks/>
          </p:cNvCxnSpPr>
          <p:nvPr/>
        </p:nvCxnSpPr>
        <p:spPr>
          <a:xfrm>
            <a:off x="11493909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7" name="Straight Connector 2156">
            <a:extLst>
              <a:ext uri="{FF2B5EF4-FFF2-40B4-BE49-F238E27FC236}">
                <a16:creationId xmlns:a16="http://schemas.microsoft.com/office/drawing/2014/main" id="{139C56D5-BA57-FBAB-3567-9F73F45DC6FD}"/>
              </a:ext>
            </a:extLst>
          </p:cNvPr>
          <p:cNvCxnSpPr>
            <a:cxnSpLocks/>
          </p:cNvCxnSpPr>
          <p:nvPr/>
        </p:nvCxnSpPr>
        <p:spPr>
          <a:xfrm>
            <a:off x="11493909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Straight Connector 2157">
            <a:extLst>
              <a:ext uri="{FF2B5EF4-FFF2-40B4-BE49-F238E27FC236}">
                <a16:creationId xmlns:a16="http://schemas.microsoft.com/office/drawing/2014/main" id="{75E3DA9F-AE36-C865-9F87-CB5367D87495}"/>
              </a:ext>
            </a:extLst>
          </p:cNvPr>
          <p:cNvCxnSpPr>
            <a:cxnSpLocks/>
          </p:cNvCxnSpPr>
          <p:nvPr/>
        </p:nvCxnSpPr>
        <p:spPr>
          <a:xfrm>
            <a:off x="9092731" y="318565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9" name="Straight Connector 2158">
            <a:extLst>
              <a:ext uri="{FF2B5EF4-FFF2-40B4-BE49-F238E27FC236}">
                <a16:creationId xmlns:a16="http://schemas.microsoft.com/office/drawing/2014/main" id="{419718F6-1DBB-CE88-2520-18D26E253AFC}"/>
              </a:ext>
            </a:extLst>
          </p:cNvPr>
          <p:cNvCxnSpPr>
            <a:cxnSpLocks/>
          </p:cNvCxnSpPr>
          <p:nvPr/>
        </p:nvCxnSpPr>
        <p:spPr>
          <a:xfrm>
            <a:off x="9097648" y="3554362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0" name="Straight Connector 2159">
            <a:extLst>
              <a:ext uri="{FF2B5EF4-FFF2-40B4-BE49-F238E27FC236}">
                <a16:creationId xmlns:a16="http://schemas.microsoft.com/office/drawing/2014/main" id="{4C2751A7-4A20-4245-A8DD-20F5056CCD95}"/>
              </a:ext>
            </a:extLst>
          </p:cNvPr>
          <p:cNvCxnSpPr>
            <a:cxnSpLocks/>
          </p:cNvCxnSpPr>
          <p:nvPr/>
        </p:nvCxnSpPr>
        <p:spPr>
          <a:xfrm>
            <a:off x="9092731" y="3927988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1" name="Straight Connector 2160">
            <a:extLst>
              <a:ext uri="{FF2B5EF4-FFF2-40B4-BE49-F238E27FC236}">
                <a16:creationId xmlns:a16="http://schemas.microsoft.com/office/drawing/2014/main" id="{A0AE3F24-CDD5-EB94-B3D9-C0B93CEE1969}"/>
              </a:ext>
            </a:extLst>
          </p:cNvPr>
          <p:cNvCxnSpPr>
            <a:cxnSpLocks/>
          </p:cNvCxnSpPr>
          <p:nvPr/>
        </p:nvCxnSpPr>
        <p:spPr>
          <a:xfrm>
            <a:off x="9092731" y="4262284"/>
            <a:ext cx="41295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2" name="Straight Connector 2161">
            <a:extLst>
              <a:ext uri="{FF2B5EF4-FFF2-40B4-BE49-F238E27FC236}">
                <a16:creationId xmlns:a16="http://schemas.microsoft.com/office/drawing/2014/main" id="{BCCDBF67-5585-AF16-E1AD-495A035635A6}"/>
              </a:ext>
            </a:extLst>
          </p:cNvPr>
          <p:cNvCxnSpPr>
            <a:cxnSpLocks/>
          </p:cNvCxnSpPr>
          <p:nvPr/>
        </p:nvCxnSpPr>
        <p:spPr>
          <a:xfrm>
            <a:off x="9942515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3" name="Straight Connector 2162">
            <a:extLst>
              <a:ext uri="{FF2B5EF4-FFF2-40B4-BE49-F238E27FC236}">
                <a16:creationId xmlns:a16="http://schemas.microsoft.com/office/drawing/2014/main" id="{FD8E495E-F6AA-6916-EE91-6B69A14EDB89}"/>
              </a:ext>
            </a:extLst>
          </p:cNvPr>
          <p:cNvCxnSpPr>
            <a:cxnSpLocks/>
          </p:cNvCxnSpPr>
          <p:nvPr/>
        </p:nvCxnSpPr>
        <p:spPr>
          <a:xfrm>
            <a:off x="10301393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4" name="Straight Connector 2163">
            <a:extLst>
              <a:ext uri="{FF2B5EF4-FFF2-40B4-BE49-F238E27FC236}">
                <a16:creationId xmlns:a16="http://schemas.microsoft.com/office/drawing/2014/main" id="{755231C5-AB30-D00A-B797-FC3D3042AE96}"/>
              </a:ext>
            </a:extLst>
          </p:cNvPr>
          <p:cNvCxnSpPr>
            <a:cxnSpLocks/>
          </p:cNvCxnSpPr>
          <p:nvPr/>
        </p:nvCxnSpPr>
        <p:spPr>
          <a:xfrm>
            <a:off x="10670102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5" name="Straight Connector 2164">
            <a:extLst>
              <a:ext uri="{FF2B5EF4-FFF2-40B4-BE49-F238E27FC236}">
                <a16:creationId xmlns:a16="http://schemas.microsoft.com/office/drawing/2014/main" id="{831AA618-63B6-FDDE-5AB9-FEB7934B55C0}"/>
              </a:ext>
            </a:extLst>
          </p:cNvPr>
          <p:cNvCxnSpPr>
            <a:cxnSpLocks/>
          </p:cNvCxnSpPr>
          <p:nvPr/>
        </p:nvCxnSpPr>
        <p:spPr>
          <a:xfrm>
            <a:off x="10994566" y="4670323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6" name="Straight Connector 2165">
            <a:extLst>
              <a:ext uri="{FF2B5EF4-FFF2-40B4-BE49-F238E27FC236}">
                <a16:creationId xmlns:a16="http://schemas.microsoft.com/office/drawing/2014/main" id="{2470BE8D-D300-37EC-4BE4-2FECA4E588BB}"/>
              </a:ext>
            </a:extLst>
          </p:cNvPr>
          <p:cNvCxnSpPr>
            <a:cxnSpLocks/>
          </p:cNvCxnSpPr>
          <p:nvPr/>
        </p:nvCxnSpPr>
        <p:spPr>
          <a:xfrm>
            <a:off x="9959366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7" name="Straight Connector 2166">
            <a:extLst>
              <a:ext uri="{FF2B5EF4-FFF2-40B4-BE49-F238E27FC236}">
                <a16:creationId xmlns:a16="http://schemas.microsoft.com/office/drawing/2014/main" id="{42DD9B47-41F1-DE83-3E4F-D95D469C6136}"/>
              </a:ext>
            </a:extLst>
          </p:cNvPr>
          <p:cNvCxnSpPr>
            <a:cxnSpLocks/>
          </p:cNvCxnSpPr>
          <p:nvPr/>
        </p:nvCxnSpPr>
        <p:spPr>
          <a:xfrm>
            <a:off x="10318244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8" name="Straight Connector 2167">
            <a:extLst>
              <a:ext uri="{FF2B5EF4-FFF2-40B4-BE49-F238E27FC236}">
                <a16:creationId xmlns:a16="http://schemas.microsoft.com/office/drawing/2014/main" id="{CE77158E-7DD7-D16C-0827-65B3D3AA6D7D}"/>
              </a:ext>
            </a:extLst>
          </p:cNvPr>
          <p:cNvCxnSpPr>
            <a:cxnSpLocks/>
          </p:cNvCxnSpPr>
          <p:nvPr/>
        </p:nvCxnSpPr>
        <p:spPr>
          <a:xfrm>
            <a:off x="10686953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9" name="Straight Connector 2168">
            <a:extLst>
              <a:ext uri="{FF2B5EF4-FFF2-40B4-BE49-F238E27FC236}">
                <a16:creationId xmlns:a16="http://schemas.microsoft.com/office/drawing/2014/main" id="{11E0B3A8-B7FE-69CF-5662-C4EB84FF2CB6}"/>
              </a:ext>
            </a:extLst>
          </p:cNvPr>
          <p:cNvCxnSpPr>
            <a:cxnSpLocks/>
          </p:cNvCxnSpPr>
          <p:nvPr/>
        </p:nvCxnSpPr>
        <p:spPr>
          <a:xfrm>
            <a:off x="11011417" y="2485229"/>
            <a:ext cx="0" cy="329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1" name="Straight Connector 2170">
            <a:extLst>
              <a:ext uri="{FF2B5EF4-FFF2-40B4-BE49-F238E27FC236}">
                <a16:creationId xmlns:a16="http://schemas.microsoft.com/office/drawing/2014/main" id="{A4F8C4A4-6CEA-104D-B53F-230E3A3229CA}"/>
              </a:ext>
            </a:extLst>
          </p:cNvPr>
          <p:cNvCxnSpPr/>
          <p:nvPr/>
        </p:nvCxnSpPr>
        <p:spPr>
          <a:xfrm>
            <a:off x="6096000" y="1710813"/>
            <a:ext cx="0" cy="43914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2" name="Title 1">
            <a:extLst>
              <a:ext uri="{FF2B5EF4-FFF2-40B4-BE49-F238E27FC236}">
                <a16:creationId xmlns:a16="http://schemas.microsoft.com/office/drawing/2014/main" id="{25D258F7-4914-52D1-FD3D-C25C2130D4AE}"/>
              </a:ext>
            </a:extLst>
          </p:cNvPr>
          <p:cNvSpPr txBox="1">
            <a:spLocks/>
          </p:cNvSpPr>
          <p:nvPr/>
        </p:nvSpPr>
        <p:spPr>
          <a:xfrm>
            <a:off x="760034" y="5048863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Node 0</a:t>
            </a:r>
            <a:endParaRPr lang="de-DE" sz="2000" dirty="0"/>
          </a:p>
        </p:txBody>
      </p:sp>
      <p:sp>
        <p:nvSpPr>
          <p:cNvPr id="2173" name="Title 1">
            <a:extLst>
              <a:ext uri="{FF2B5EF4-FFF2-40B4-BE49-F238E27FC236}">
                <a16:creationId xmlns:a16="http://schemas.microsoft.com/office/drawing/2014/main" id="{FF970580-6A5C-121E-F158-6A2A9CFAF447}"/>
              </a:ext>
            </a:extLst>
          </p:cNvPr>
          <p:cNvSpPr txBox="1">
            <a:spLocks/>
          </p:cNvSpPr>
          <p:nvPr/>
        </p:nvSpPr>
        <p:spPr>
          <a:xfrm>
            <a:off x="3666740" y="5074695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Node 1</a:t>
            </a:r>
            <a:endParaRPr lang="de-DE" sz="2000" dirty="0"/>
          </a:p>
        </p:txBody>
      </p:sp>
      <p:sp>
        <p:nvSpPr>
          <p:cNvPr id="2174" name="Title 1">
            <a:extLst>
              <a:ext uri="{FF2B5EF4-FFF2-40B4-BE49-F238E27FC236}">
                <a16:creationId xmlns:a16="http://schemas.microsoft.com/office/drawing/2014/main" id="{17A5EF1B-17E4-5FDD-9890-7F74DABC7212}"/>
              </a:ext>
            </a:extLst>
          </p:cNvPr>
          <p:cNvSpPr txBox="1">
            <a:spLocks/>
          </p:cNvSpPr>
          <p:nvPr/>
        </p:nvSpPr>
        <p:spPr>
          <a:xfrm>
            <a:off x="6656154" y="5022933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Node 0</a:t>
            </a:r>
            <a:endParaRPr lang="de-DE" sz="2000" dirty="0"/>
          </a:p>
        </p:txBody>
      </p:sp>
      <p:sp>
        <p:nvSpPr>
          <p:cNvPr id="2175" name="Title 1">
            <a:extLst>
              <a:ext uri="{FF2B5EF4-FFF2-40B4-BE49-F238E27FC236}">
                <a16:creationId xmlns:a16="http://schemas.microsoft.com/office/drawing/2014/main" id="{44A0D4EC-23A8-8B8D-6A54-98BA9B4E9802}"/>
              </a:ext>
            </a:extLst>
          </p:cNvPr>
          <p:cNvSpPr txBox="1">
            <a:spLocks/>
          </p:cNvSpPr>
          <p:nvPr/>
        </p:nvSpPr>
        <p:spPr>
          <a:xfrm>
            <a:off x="9562860" y="5048765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Node 1</a:t>
            </a:r>
            <a:endParaRPr lang="de-DE" sz="2000" dirty="0"/>
          </a:p>
        </p:txBody>
      </p:sp>
      <p:sp>
        <p:nvSpPr>
          <p:cNvPr id="2176" name="Title 1">
            <a:extLst>
              <a:ext uri="{FF2B5EF4-FFF2-40B4-BE49-F238E27FC236}">
                <a16:creationId xmlns:a16="http://schemas.microsoft.com/office/drawing/2014/main" id="{6C40B4AC-DAEA-9D40-E441-2967AF9628F0}"/>
              </a:ext>
            </a:extLst>
          </p:cNvPr>
          <p:cNvSpPr txBox="1">
            <a:spLocks/>
          </p:cNvSpPr>
          <p:nvPr/>
        </p:nvSpPr>
        <p:spPr>
          <a:xfrm>
            <a:off x="1662069" y="5573595"/>
            <a:ext cx="3090418" cy="55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err="1"/>
              <a:t>tasks_per_node</a:t>
            </a:r>
            <a:r>
              <a:rPr lang="en-US" sz="2000" dirty="0"/>
              <a:t> = 16</a:t>
            </a:r>
          </a:p>
          <a:p>
            <a:pPr algn="ctr"/>
            <a:r>
              <a:rPr lang="en-US" sz="2000" dirty="0"/>
              <a:t># process = 10</a:t>
            </a:r>
            <a:endParaRPr lang="de-DE" sz="2000" dirty="0"/>
          </a:p>
        </p:txBody>
      </p:sp>
      <p:sp>
        <p:nvSpPr>
          <p:cNvPr id="2177" name="Title 1">
            <a:extLst>
              <a:ext uri="{FF2B5EF4-FFF2-40B4-BE49-F238E27FC236}">
                <a16:creationId xmlns:a16="http://schemas.microsoft.com/office/drawing/2014/main" id="{284A1E22-0EAE-DE9F-ECCE-98DFFF84D588}"/>
              </a:ext>
            </a:extLst>
          </p:cNvPr>
          <p:cNvSpPr txBox="1">
            <a:spLocks/>
          </p:cNvSpPr>
          <p:nvPr/>
        </p:nvSpPr>
        <p:spPr>
          <a:xfrm>
            <a:off x="7462542" y="5528070"/>
            <a:ext cx="3090418" cy="5564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err="1"/>
              <a:t>tasks_per_node</a:t>
            </a:r>
            <a:r>
              <a:rPr lang="en-US" sz="2000" dirty="0"/>
              <a:t> = 6</a:t>
            </a:r>
          </a:p>
          <a:p>
            <a:pPr algn="ctr"/>
            <a:r>
              <a:rPr lang="en-US" sz="2000" dirty="0"/>
              <a:t># process = 10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51549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modifications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– Simulation Efficiency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14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52F6509-6261-4F5D-65BA-E19F35B980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145014"/>
              </p:ext>
            </p:extLst>
          </p:nvPr>
        </p:nvGraphicFramePr>
        <p:xfrm>
          <a:off x="2025445" y="1253714"/>
          <a:ext cx="8141110" cy="4893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4471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modifications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– Simulation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Accuracy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15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6ED3272-1EF3-CFA6-7236-D08B7F250791}"/>
              </a:ext>
            </a:extLst>
          </p:cNvPr>
          <p:cNvSpPr txBox="1">
            <a:spLocks/>
          </p:cNvSpPr>
          <p:nvPr/>
        </p:nvSpPr>
        <p:spPr>
          <a:xfrm>
            <a:off x="1107601" y="1557854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FILE</a:t>
            </a:r>
            <a:endParaRPr lang="de-DE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C1A18B-F757-34AB-DE6A-F591AEB7B96B}"/>
              </a:ext>
            </a:extLst>
          </p:cNvPr>
          <p:cNvSpPr txBox="1">
            <a:spLocks/>
          </p:cNvSpPr>
          <p:nvPr/>
        </p:nvSpPr>
        <p:spPr>
          <a:xfrm>
            <a:off x="3747563" y="1557854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SRC</a:t>
            </a:r>
            <a:endParaRPr lang="de-DE" sz="4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10F954-41B2-2ECF-471D-8110FF80E425}"/>
              </a:ext>
            </a:extLst>
          </p:cNvPr>
          <p:cNvSpPr txBox="1">
            <a:spLocks/>
          </p:cNvSpPr>
          <p:nvPr/>
        </p:nvSpPr>
        <p:spPr>
          <a:xfrm>
            <a:off x="6387525" y="1557854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LBL</a:t>
            </a:r>
            <a:endParaRPr lang="de-DE" sz="4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9D5C9-6C56-DD6A-46DF-B5B53F3862B3}"/>
              </a:ext>
            </a:extLst>
          </p:cNvPr>
          <p:cNvSpPr txBox="1">
            <a:spLocks/>
          </p:cNvSpPr>
          <p:nvPr/>
        </p:nvSpPr>
        <p:spPr>
          <a:xfrm>
            <a:off x="9027487" y="1557854"/>
            <a:ext cx="190942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COMP</a:t>
            </a:r>
            <a:endParaRPr lang="de-DE" sz="4000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FD445BD-FEED-6F97-D73E-7D94FCAE7936}"/>
              </a:ext>
            </a:extLst>
          </p:cNvPr>
          <p:cNvSpPr/>
          <p:nvPr/>
        </p:nvSpPr>
        <p:spPr>
          <a:xfrm rot="5400000">
            <a:off x="3105764" y="726337"/>
            <a:ext cx="592242" cy="3402112"/>
          </a:xfrm>
          <a:prstGeom prst="rightBrace">
            <a:avLst>
              <a:gd name="adj1" fmla="val 14361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E7C9624-DF11-94D1-CE5B-A5D4CC44813B}"/>
              </a:ext>
            </a:extLst>
          </p:cNvPr>
          <p:cNvSpPr/>
          <p:nvPr/>
        </p:nvSpPr>
        <p:spPr>
          <a:xfrm rot="5400000">
            <a:off x="8501216" y="645221"/>
            <a:ext cx="592242" cy="3564345"/>
          </a:xfrm>
          <a:prstGeom prst="rightBrace">
            <a:avLst>
              <a:gd name="adj1" fmla="val 14361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670756F-4948-DA0C-D278-1799F921A9E1}"/>
              </a:ext>
            </a:extLst>
          </p:cNvPr>
          <p:cNvSpPr txBox="1">
            <a:spLocks/>
          </p:cNvSpPr>
          <p:nvPr/>
        </p:nvSpPr>
        <p:spPr>
          <a:xfrm>
            <a:off x="1700829" y="2040573"/>
            <a:ext cx="3402112" cy="2029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Uses </a:t>
            </a:r>
            <a:r>
              <a:rPr lang="en-US" sz="2000" dirty="0" err="1"/>
              <a:t>kerncraft</a:t>
            </a:r>
            <a:r>
              <a:rPr lang="en-US" sz="2000" dirty="0"/>
              <a:t> in backend to derive ECM model values</a:t>
            </a:r>
            <a:endParaRPr lang="de-DE" sz="20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9B75C4-44F9-1E6C-C51B-FE1EFB506586}"/>
              </a:ext>
            </a:extLst>
          </p:cNvPr>
          <p:cNvSpPr txBox="1">
            <a:spLocks/>
          </p:cNvSpPr>
          <p:nvPr/>
        </p:nvSpPr>
        <p:spPr>
          <a:xfrm>
            <a:off x="7250193" y="2273505"/>
            <a:ext cx="3094288" cy="17771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000" dirty="0"/>
              <a:t>Given ECM </a:t>
            </a:r>
            <a:r>
              <a:rPr lang="de-DE" sz="2000" dirty="0" err="1"/>
              <a:t>model</a:t>
            </a:r>
            <a:r>
              <a:rPr lang="de-DE" sz="2000" dirty="0"/>
              <a:t> </a:t>
            </a:r>
            <a:r>
              <a:rPr lang="de-DE" sz="2000" dirty="0" err="1"/>
              <a:t>values</a:t>
            </a:r>
            <a:r>
              <a:rPr lang="de-DE" sz="2000" dirty="0"/>
              <a:t>, </a:t>
            </a:r>
            <a:r>
              <a:rPr lang="de-DE" sz="2000" dirty="0" err="1"/>
              <a:t>handles</a:t>
            </a:r>
            <a:r>
              <a:rPr lang="de-DE" sz="2000" dirty="0"/>
              <a:t> extra </a:t>
            </a:r>
            <a:r>
              <a:rPr lang="de-DE" sz="2000" dirty="0" err="1"/>
              <a:t>penalties</a:t>
            </a:r>
            <a:r>
              <a:rPr lang="de-DE" sz="2000" dirty="0"/>
              <a:t> not </a:t>
            </a:r>
            <a:r>
              <a:rPr lang="de-DE" sz="2000" dirty="0" err="1"/>
              <a:t>covered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kerncraft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270728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5F7C03-615F-55C1-1463-0FB94C4B39A6}"/>
              </a:ext>
            </a:extLst>
          </p:cNvPr>
          <p:cNvSpPr/>
          <p:nvPr/>
        </p:nvSpPr>
        <p:spPr>
          <a:xfrm>
            <a:off x="7529672" y="1897627"/>
            <a:ext cx="2399071" cy="308732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AE382D-9333-C284-2309-7D71768E200F}"/>
              </a:ext>
            </a:extLst>
          </p:cNvPr>
          <p:cNvSpPr/>
          <p:nvPr/>
        </p:nvSpPr>
        <p:spPr>
          <a:xfrm>
            <a:off x="2330245" y="2310582"/>
            <a:ext cx="2399071" cy="225158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Framework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portability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Heterogenous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systems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16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88B3A94-4320-2124-9900-B99C7151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263" y="2453555"/>
            <a:ext cx="1981372" cy="19508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4C99B4-2383-C587-4A7C-ADC19C6F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67" y="2042039"/>
            <a:ext cx="2095682" cy="277392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90FF77-324C-E68E-11B9-BD4514DFC25E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4729316" y="3436375"/>
            <a:ext cx="2800356" cy="4913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B83EEB3A-B48B-CE3B-8701-AEB234B60E6D}"/>
              </a:ext>
            </a:extLst>
          </p:cNvPr>
          <p:cNvSpPr txBox="1">
            <a:spLocks/>
          </p:cNvSpPr>
          <p:nvPr/>
        </p:nvSpPr>
        <p:spPr>
          <a:xfrm>
            <a:off x="4433278" y="3436375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I</a:t>
            </a:r>
            <a:r>
              <a:rPr lang="en-US" sz="1800" dirty="0" err="1"/>
              <a:t>nterconnect</a:t>
            </a:r>
            <a:endParaRPr lang="de-DE" sz="18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93A68B1-7A17-F5C9-E5B5-03FDEA00693E}"/>
              </a:ext>
            </a:extLst>
          </p:cNvPr>
          <p:cNvSpPr txBox="1">
            <a:spLocks/>
          </p:cNvSpPr>
          <p:nvPr/>
        </p:nvSpPr>
        <p:spPr>
          <a:xfrm>
            <a:off x="2043387" y="461438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A64FX Nodes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FBCD0DB-BD50-EC12-51C5-51C5D1F0FFD9}"/>
              </a:ext>
            </a:extLst>
          </p:cNvPr>
          <p:cNvSpPr txBox="1">
            <a:spLocks/>
          </p:cNvSpPr>
          <p:nvPr/>
        </p:nvSpPr>
        <p:spPr>
          <a:xfrm>
            <a:off x="7105162" y="504172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8360Y Nodes</a:t>
            </a:r>
          </a:p>
        </p:txBody>
      </p:sp>
    </p:spTree>
    <p:extLst>
      <p:ext uri="{BB962C8B-B14F-4D97-AF65-F5344CB8AC3E}">
        <p14:creationId xmlns:p14="http://schemas.microsoft.com/office/powerpoint/2010/main" val="1871231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Testbed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for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Performance Analysis – Fritz &amp;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Meggie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17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848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Testbed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for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Performance Analysis - Wisteria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18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237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SOR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19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8858E1-1B2E-5743-7F4B-37892E36B401}"/>
              </a:ext>
            </a:extLst>
          </p:cNvPr>
          <p:cNvSpPr txBox="1"/>
          <p:nvPr/>
        </p:nvSpPr>
        <p:spPr>
          <a:xfrm>
            <a:off x="414308" y="1811438"/>
            <a:ext cx="106174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double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jmax</a:t>
            </a:r>
            <a:r>
              <a:rPr lang="en-US" b="0" dirty="0">
                <a:effectLst/>
                <a:latin typeface="Consolas" panose="020B0609020204030204" pitchFamily="49" charset="0"/>
              </a:rPr>
              <a:t>][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imax</a:t>
            </a:r>
            <a:r>
              <a:rPr lang="en-US" b="0" dirty="0"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double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jmax</a:t>
            </a:r>
            <a:r>
              <a:rPr lang="en-US" b="0" dirty="0">
                <a:effectLst/>
                <a:latin typeface="Consolas" panose="020B0609020204030204" pitchFamily="49" charset="0"/>
              </a:rPr>
              <a:t>][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imax</a:t>
            </a:r>
            <a:r>
              <a:rPr lang="en-US" b="0" dirty="0"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for( int j=1; j &lt; jmax+1; ++j ) 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for( int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effectLst/>
                <a:latin typeface="Consolas" panose="020B0609020204030204" pitchFamily="49" charset="0"/>
              </a:rPr>
              <a:t>=1;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effectLst/>
                <a:latin typeface="Consolas" panose="020B0609020204030204" pitchFamily="49" charset="0"/>
              </a:rPr>
              <a:t> &lt; imax+1; ++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effectLst/>
                <a:latin typeface="Consolas" panose="020B0609020204030204" pitchFamily="49" charset="0"/>
              </a:rPr>
              <a:t> ) 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	r1 = 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[j][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- ( ( </a:t>
            </a:r>
            <a:r>
              <a:rPr lang="en-US" b="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[j][i-1] </a:t>
            </a:r>
            <a:r>
              <a:rPr lang="en-US" b="0" dirty="0">
                <a:effectLst/>
                <a:latin typeface="Consolas" panose="020B0609020204030204" pitchFamily="49" charset="0"/>
              </a:rPr>
              <a:t>- 2.0 * 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[j][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+ </a:t>
            </a:r>
            <a:r>
              <a:rPr lang="en-US" b="0" dirty="0" err="1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[j][i+1]</a:t>
            </a:r>
            <a:r>
              <a:rPr lang="en-US" b="0" dirty="0">
                <a:effectLst/>
                <a:latin typeface="Consolas" panose="020B0609020204030204" pitchFamily="49" charset="0"/>
              </a:rPr>
              <a:t> ) * 					idx2 + (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[j-1][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- 2.0 * 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[j][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+ 						</a:t>
            </a:r>
            <a:r>
              <a:rPr lang="en-US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[j+1][</a:t>
            </a:r>
            <a:r>
              <a:rPr lang="en-US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) * idy2 );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	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[j][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[j][</a:t>
            </a:r>
            <a:r>
              <a:rPr lang="en-US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effectLst/>
                <a:latin typeface="Consolas" panose="020B0609020204030204" pitchFamily="49" charset="0"/>
              </a:rPr>
              <a:t>- ( factor * r1 );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	res = res + ( r1 * r1 );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4220DB-6296-3891-0739-0BCDD42D0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360" y="1059733"/>
            <a:ext cx="6686640" cy="107267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C66D9C2-58DF-05A9-EF67-401A8602FD8C}"/>
              </a:ext>
            </a:extLst>
          </p:cNvPr>
          <p:cNvSpPr txBox="1">
            <a:spLocks/>
          </p:cNvSpPr>
          <p:nvPr/>
        </p:nvSpPr>
        <p:spPr>
          <a:xfrm>
            <a:off x="5895910" y="1964128"/>
            <a:ext cx="314804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SRC </a:t>
            </a:r>
            <a:r>
              <a:rPr lang="de-DE" sz="1800" dirty="0" err="1"/>
              <a:t>matrix</a:t>
            </a:r>
            <a:endParaRPr lang="de-DE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DCE1108-5368-3C1C-35AB-7C4896836CEB}"/>
              </a:ext>
            </a:extLst>
          </p:cNvPr>
          <p:cNvSpPr txBox="1">
            <a:spLocks/>
          </p:cNvSpPr>
          <p:nvPr/>
        </p:nvSpPr>
        <p:spPr>
          <a:xfrm>
            <a:off x="9043955" y="1970118"/>
            <a:ext cx="314804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RHS </a:t>
            </a:r>
            <a:r>
              <a:rPr lang="de-DE" sz="1800" dirty="0" err="1"/>
              <a:t>matrix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228470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SOR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20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B5ADB4-6576-65D6-BFB5-65BDADCA588D}"/>
              </a:ext>
            </a:extLst>
          </p:cNvPr>
          <p:cNvSpPr/>
          <p:nvPr/>
        </p:nvSpPr>
        <p:spPr>
          <a:xfrm>
            <a:off x="9721648" y="1562151"/>
            <a:ext cx="1297858" cy="52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Registers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D35CD-EE91-CB0A-CE52-CB2E7B89AA7F}"/>
              </a:ext>
            </a:extLst>
          </p:cNvPr>
          <p:cNvSpPr/>
          <p:nvPr/>
        </p:nvSpPr>
        <p:spPr>
          <a:xfrm>
            <a:off x="9721648" y="2495478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50213-1336-AB29-5817-D142569E07E5}"/>
              </a:ext>
            </a:extLst>
          </p:cNvPr>
          <p:cNvSpPr/>
          <p:nvPr/>
        </p:nvSpPr>
        <p:spPr>
          <a:xfrm>
            <a:off x="9721648" y="3428805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86134C-2209-1253-F8F6-53883B37E03B}"/>
              </a:ext>
            </a:extLst>
          </p:cNvPr>
          <p:cNvSpPr/>
          <p:nvPr/>
        </p:nvSpPr>
        <p:spPr>
          <a:xfrm>
            <a:off x="9721648" y="4362132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E5F69A-8171-B7E5-936E-BB5B9177F905}"/>
              </a:ext>
            </a:extLst>
          </p:cNvPr>
          <p:cNvSpPr/>
          <p:nvPr/>
        </p:nvSpPr>
        <p:spPr>
          <a:xfrm>
            <a:off x="9721648" y="5295459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MEM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F10A1-3163-0F35-F45B-2EDD72AA67E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0370577" y="3016582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9DDF2-D244-A13D-A942-B23115B5E36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70577" y="3949909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EFADB2-36BC-9A5E-7403-9E45F168EC55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10370577" y="4883236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6E66CB-A852-DEE3-52AB-E35AD317280C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0370577" y="2083255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4A2490C8-596F-E2EB-B786-3B0A246FE6A9}"/>
              </a:ext>
            </a:extLst>
          </p:cNvPr>
          <p:cNvSpPr txBox="1">
            <a:spLocks/>
          </p:cNvSpPr>
          <p:nvPr/>
        </p:nvSpPr>
        <p:spPr>
          <a:xfrm>
            <a:off x="8746532" y="1149484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 err="1"/>
              <a:t>Arithmetic</a:t>
            </a:r>
            <a:r>
              <a:rPr lang="de-DE" sz="1800" dirty="0"/>
              <a:t> : 96 cy/CL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68E1A07-2A8C-B369-44B6-A97ABFDDAC7E}"/>
              </a:ext>
            </a:extLst>
          </p:cNvPr>
          <p:cNvSpPr txBox="1">
            <a:spLocks/>
          </p:cNvSpPr>
          <p:nvPr/>
        </p:nvSpPr>
        <p:spPr>
          <a:xfrm>
            <a:off x="9395461" y="2107370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20 cy/CL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E801CFE0-D177-32A9-C7E0-22299ADA5248}"/>
              </a:ext>
            </a:extLst>
          </p:cNvPr>
          <p:cNvSpPr txBox="1">
            <a:spLocks/>
          </p:cNvSpPr>
          <p:nvPr/>
        </p:nvSpPr>
        <p:spPr>
          <a:xfrm>
            <a:off x="9390547" y="3036522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5 cy/CL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74291D3-3CF2-A4A6-C089-64AC114EFAC8}"/>
              </a:ext>
            </a:extLst>
          </p:cNvPr>
          <p:cNvSpPr txBox="1">
            <a:spLocks/>
          </p:cNvSpPr>
          <p:nvPr/>
        </p:nvSpPr>
        <p:spPr>
          <a:xfrm>
            <a:off x="9390546" y="3980419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 cy/CL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C1E3C0D-E446-5121-C40F-2A193DD61BB0}"/>
              </a:ext>
            </a:extLst>
          </p:cNvPr>
          <p:cNvSpPr txBox="1">
            <a:spLocks/>
          </p:cNvSpPr>
          <p:nvPr/>
        </p:nvSpPr>
        <p:spPr>
          <a:xfrm>
            <a:off x="9400378" y="4904652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4 cy/CL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0D246CFD-BDF3-9D09-A860-6264D4BE264A}"/>
              </a:ext>
            </a:extLst>
          </p:cNvPr>
          <p:cNvSpPr txBox="1">
            <a:spLocks/>
          </p:cNvSpPr>
          <p:nvPr/>
        </p:nvSpPr>
        <p:spPr>
          <a:xfrm>
            <a:off x="8746532" y="586987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ECM Model </a:t>
            </a:r>
            <a:r>
              <a:rPr lang="de-DE" sz="1800" dirty="0" err="1"/>
              <a:t>for</a:t>
            </a:r>
            <a:r>
              <a:rPr lang="de-DE" sz="1800" dirty="0"/>
              <a:t> 8360Y</a:t>
            </a:r>
          </a:p>
        </p:txBody>
      </p:sp>
    </p:spTree>
    <p:extLst>
      <p:ext uri="{BB962C8B-B14F-4D97-AF65-F5344CB8AC3E}">
        <p14:creationId xmlns:p14="http://schemas.microsoft.com/office/powerpoint/2010/main" val="59928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SOR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21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123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SOR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22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3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STREAM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23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8858E1-1B2E-5743-7F4B-37892E36B401}"/>
              </a:ext>
            </a:extLst>
          </p:cNvPr>
          <p:cNvSpPr txBox="1"/>
          <p:nvPr/>
        </p:nvSpPr>
        <p:spPr>
          <a:xfrm>
            <a:off x="414308" y="1811438"/>
            <a:ext cx="106174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  <a:latin typeface="Consolas" panose="020B0609020204030204" pitchFamily="49" charset="0"/>
              </a:rPr>
              <a:t>double a[N], b[N], c[N];</a:t>
            </a: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double s;</a:t>
            </a:r>
          </a:p>
          <a:p>
            <a:endParaRPr lang="pt-BR" b="0" dirty="0"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for( int i=0; i &lt; N; ++i )</a:t>
            </a:r>
          </a:p>
          <a:p>
            <a:r>
              <a:rPr lang="pt-BR" dirty="0">
                <a:latin typeface="Consolas" panose="020B0609020204030204" pitchFamily="49" charset="0"/>
              </a:rPr>
              <a:t>{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effectLst/>
                <a:latin typeface="Consolas" panose="020B0609020204030204" pitchFamily="49" charset="0"/>
              </a:rPr>
              <a:t>    </a:t>
            </a:r>
            <a:r>
              <a:rPr lang="pt-BR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a[i]</a:t>
            </a:r>
            <a:r>
              <a:rPr lang="pt-BR" b="0" dirty="0">
                <a:effectLst/>
                <a:latin typeface="Consolas" panose="020B0609020204030204" pitchFamily="49" charset="0"/>
              </a:rPr>
              <a:t> = </a:t>
            </a:r>
            <a:r>
              <a:rPr lang="pt-BR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b[i]</a:t>
            </a:r>
            <a:r>
              <a:rPr lang="pt-BR" b="0" dirty="0">
                <a:effectLst/>
                <a:latin typeface="Consolas" panose="020B0609020204030204" pitchFamily="49" charset="0"/>
              </a:rPr>
              <a:t> + </a:t>
            </a:r>
            <a:r>
              <a:rPr lang="pt-BR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b="0" dirty="0">
                <a:effectLst/>
                <a:latin typeface="Consolas" panose="020B0609020204030204" pitchFamily="49" charset="0"/>
              </a:rPr>
              <a:t> * </a:t>
            </a:r>
            <a:r>
              <a:rPr lang="pt-BR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c[i]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latin typeface="Consolas" panose="020B0609020204030204" pitchFamily="49" charset="0"/>
              </a:rPr>
              <a:t>}</a:t>
            </a:r>
            <a:endParaRPr lang="pt-BR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50555-4FF0-BE76-2711-C74E600B5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883" y="1063342"/>
            <a:ext cx="4724809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79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STREAM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24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B5ADB4-6576-65D6-BFB5-65BDADCA588D}"/>
              </a:ext>
            </a:extLst>
          </p:cNvPr>
          <p:cNvSpPr/>
          <p:nvPr/>
        </p:nvSpPr>
        <p:spPr>
          <a:xfrm>
            <a:off x="9869133" y="1591650"/>
            <a:ext cx="1297858" cy="52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Registers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D35CD-EE91-CB0A-CE52-CB2E7B89AA7F}"/>
              </a:ext>
            </a:extLst>
          </p:cNvPr>
          <p:cNvSpPr/>
          <p:nvPr/>
        </p:nvSpPr>
        <p:spPr>
          <a:xfrm>
            <a:off x="9869133" y="2524977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50213-1336-AB29-5817-D142569E07E5}"/>
              </a:ext>
            </a:extLst>
          </p:cNvPr>
          <p:cNvSpPr/>
          <p:nvPr/>
        </p:nvSpPr>
        <p:spPr>
          <a:xfrm>
            <a:off x="9869133" y="3458304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86134C-2209-1253-F8F6-53883B37E03B}"/>
              </a:ext>
            </a:extLst>
          </p:cNvPr>
          <p:cNvSpPr/>
          <p:nvPr/>
        </p:nvSpPr>
        <p:spPr>
          <a:xfrm>
            <a:off x="9869133" y="4391631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E5F69A-8171-B7E5-936E-BB5B9177F905}"/>
              </a:ext>
            </a:extLst>
          </p:cNvPr>
          <p:cNvSpPr/>
          <p:nvPr/>
        </p:nvSpPr>
        <p:spPr>
          <a:xfrm>
            <a:off x="9869133" y="5324958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MEM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F10A1-3163-0F35-F45B-2EDD72AA67E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0518062" y="3046081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9DDF2-D244-A13D-A942-B23115B5E36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518062" y="3979408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EFADB2-36BC-9A5E-7403-9E45F168EC55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10518062" y="4912735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6E66CB-A852-DEE3-52AB-E35AD317280C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0518062" y="2112754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4A2490C8-596F-E2EB-B786-3B0A246FE6A9}"/>
              </a:ext>
            </a:extLst>
          </p:cNvPr>
          <p:cNvSpPr txBox="1">
            <a:spLocks/>
          </p:cNvSpPr>
          <p:nvPr/>
        </p:nvSpPr>
        <p:spPr>
          <a:xfrm>
            <a:off x="8894017" y="1178983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 err="1"/>
              <a:t>Arithmetic</a:t>
            </a:r>
            <a:r>
              <a:rPr lang="de-DE" sz="1800" dirty="0"/>
              <a:t> : 1.3 cy/CL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68E1A07-2A8C-B369-44B6-A97ABFDDAC7E}"/>
              </a:ext>
            </a:extLst>
          </p:cNvPr>
          <p:cNvSpPr txBox="1">
            <a:spLocks/>
          </p:cNvSpPr>
          <p:nvPr/>
        </p:nvSpPr>
        <p:spPr>
          <a:xfrm>
            <a:off x="9542946" y="2136869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1 cy/CL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E801CFE0-D177-32A9-C7E0-22299ADA5248}"/>
              </a:ext>
            </a:extLst>
          </p:cNvPr>
          <p:cNvSpPr txBox="1">
            <a:spLocks/>
          </p:cNvSpPr>
          <p:nvPr/>
        </p:nvSpPr>
        <p:spPr>
          <a:xfrm>
            <a:off x="9538032" y="3066021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4 cy/CL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74291D3-3CF2-A4A6-C089-64AC114EFAC8}"/>
              </a:ext>
            </a:extLst>
          </p:cNvPr>
          <p:cNvSpPr txBox="1">
            <a:spLocks/>
          </p:cNvSpPr>
          <p:nvPr/>
        </p:nvSpPr>
        <p:spPr>
          <a:xfrm>
            <a:off x="9538031" y="4009918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12 cy/CL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C1E3C0D-E446-5121-C40F-2A193DD61BB0}"/>
              </a:ext>
            </a:extLst>
          </p:cNvPr>
          <p:cNvSpPr txBox="1">
            <a:spLocks/>
          </p:cNvSpPr>
          <p:nvPr/>
        </p:nvSpPr>
        <p:spPr>
          <a:xfrm>
            <a:off x="9547863" y="4934151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5.5 cy/CL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9CA1F1-74ED-5414-2BC9-1BEB9C3A65DD}"/>
              </a:ext>
            </a:extLst>
          </p:cNvPr>
          <p:cNvSpPr txBox="1">
            <a:spLocks/>
          </p:cNvSpPr>
          <p:nvPr/>
        </p:nvSpPr>
        <p:spPr>
          <a:xfrm>
            <a:off x="8746532" y="586987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ECM Model </a:t>
            </a:r>
            <a:r>
              <a:rPr lang="de-DE" sz="1800" dirty="0" err="1"/>
              <a:t>for</a:t>
            </a:r>
            <a:r>
              <a:rPr lang="de-DE" sz="1800" dirty="0"/>
              <a:t> 8360Y</a:t>
            </a:r>
          </a:p>
        </p:txBody>
      </p:sp>
    </p:spTree>
    <p:extLst>
      <p:ext uri="{BB962C8B-B14F-4D97-AF65-F5344CB8AC3E}">
        <p14:creationId xmlns:p14="http://schemas.microsoft.com/office/powerpoint/2010/main" val="1374835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STREAM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25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653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STREAM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26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25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8858E1-1B2E-5743-7F4B-37892E36B401}"/>
              </a:ext>
            </a:extLst>
          </p:cNvPr>
          <p:cNvSpPr txBox="1"/>
          <p:nvPr/>
        </p:nvSpPr>
        <p:spPr>
          <a:xfrm>
            <a:off x="414308" y="1811438"/>
            <a:ext cx="106174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onsolas" panose="020B0609020204030204" pitchFamily="49" charset="0"/>
              </a:rPr>
              <a:t>double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dim_y</a:t>
            </a:r>
            <a:r>
              <a:rPr lang="en-US" b="0" dirty="0">
                <a:effectLst/>
                <a:latin typeface="Consolas" panose="020B0609020204030204" pitchFamily="49" charset="0"/>
              </a:rPr>
              <a:t>][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dim_x</a:t>
            </a:r>
            <a:r>
              <a:rPr lang="en-US" b="0" dirty="0"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double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dim_y</a:t>
            </a:r>
            <a:r>
              <a:rPr lang="en-US" b="0" dirty="0">
                <a:effectLst/>
                <a:latin typeface="Consolas" panose="020B0609020204030204" pitchFamily="49" charset="0"/>
              </a:rPr>
              <a:t>][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dim_x</a:t>
            </a:r>
            <a:r>
              <a:rPr lang="en-US" b="0" dirty="0">
                <a:effectLst/>
                <a:latin typeface="Consolas" panose="020B0609020204030204" pitchFamily="49" charset="0"/>
              </a:rPr>
              <a:t>];</a:t>
            </a:r>
          </a:p>
          <a:p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for ( int y = 1; y 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dim_y</a:t>
            </a:r>
            <a:r>
              <a:rPr lang="en-US" b="0" dirty="0">
                <a:effectLst/>
                <a:latin typeface="Consolas" panose="020B0609020204030204" pitchFamily="49" charset="0"/>
              </a:rPr>
              <a:t>; ++y ) 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for ( int x = 1; x 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dim_x</a:t>
            </a:r>
            <a:r>
              <a:rPr lang="en-US" b="0" dirty="0">
                <a:effectLst/>
                <a:latin typeface="Consolas" panose="020B0609020204030204" pitchFamily="49" charset="0"/>
              </a:rPr>
              <a:t>; ++x ) </a:t>
            </a:r>
          </a:p>
          <a:p>
            <a:r>
              <a:rPr lang="en-US" dirty="0">
                <a:latin typeface="Consolas" panose="020B0609020204030204" pitchFamily="49" charset="0"/>
              </a:rPr>
              <a:t>	{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		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[y][x]</a:t>
            </a:r>
            <a:r>
              <a:rPr lang="en-US" b="0" dirty="0">
                <a:effectLst/>
                <a:latin typeface="Consolas" panose="020B0609020204030204" pitchFamily="49" charset="0"/>
              </a:rPr>
              <a:t> = 0.25 * ( </a:t>
            </a:r>
            <a:r>
              <a:rPr lang="en-US" b="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[y][x - 1] </a:t>
            </a:r>
            <a:r>
              <a:rPr lang="en-US" b="0" dirty="0">
                <a:effectLst/>
                <a:latin typeface="Consolas" panose="020B0609020204030204" pitchFamily="49" charset="0"/>
              </a:rPr>
              <a:t>+ </a:t>
            </a:r>
            <a:r>
              <a:rPr lang="en-US" b="0" dirty="0" err="1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FFC000"/>
                </a:solidFill>
                <a:effectLst/>
                <a:latin typeface="Consolas" panose="020B0609020204030204" pitchFamily="49" charset="0"/>
              </a:rPr>
              <a:t>[y][x + 1] </a:t>
            </a:r>
          </a:p>
          <a:p>
            <a:r>
              <a:rPr lang="en-US" dirty="0">
                <a:latin typeface="Consolas" panose="020B0609020204030204" pitchFamily="49" charset="0"/>
              </a:rPr>
              <a:t>					</a:t>
            </a:r>
            <a:r>
              <a:rPr lang="en-US" b="0" dirty="0">
                <a:effectLst/>
                <a:latin typeface="Consolas" panose="020B0609020204030204" pitchFamily="49" charset="0"/>
              </a:rPr>
              <a:t>+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[y - 1][x]</a:t>
            </a:r>
            <a:r>
              <a:rPr lang="en-US" b="0" dirty="0"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[y + 1][x]</a:t>
            </a:r>
            <a:r>
              <a:rPr lang="en-US" b="0" dirty="0"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HEAT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on Wisteria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27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D0189D9-10AC-A102-2BFD-CD50D9C8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263" y="1094063"/>
            <a:ext cx="6665035" cy="106932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C66D9C2-58DF-05A9-EF67-401A8602FD8C}"/>
              </a:ext>
            </a:extLst>
          </p:cNvPr>
          <p:cNvSpPr txBox="1">
            <a:spLocks/>
          </p:cNvSpPr>
          <p:nvPr/>
        </p:nvSpPr>
        <p:spPr>
          <a:xfrm>
            <a:off x="5895910" y="1988780"/>
            <a:ext cx="314804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SRC </a:t>
            </a:r>
            <a:r>
              <a:rPr lang="de-DE" sz="1800" dirty="0" err="1"/>
              <a:t>matrix</a:t>
            </a:r>
            <a:endParaRPr lang="de-DE" sz="1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DCE1108-5368-3C1C-35AB-7C4896836CEB}"/>
              </a:ext>
            </a:extLst>
          </p:cNvPr>
          <p:cNvSpPr txBox="1">
            <a:spLocks/>
          </p:cNvSpPr>
          <p:nvPr/>
        </p:nvSpPr>
        <p:spPr>
          <a:xfrm>
            <a:off x="9043955" y="1995110"/>
            <a:ext cx="3148045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DST </a:t>
            </a:r>
            <a:r>
              <a:rPr lang="de-DE" sz="1800" dirty="0" err="1"/>
              <a:t>matrix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3266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HEAT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on Wisteria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28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B5ADB4-6576-65D6-BFB5-65BDADCA588D}"/>
              </a:ext>
            </a:extLst>
          </p:cNvPr>
          <p:cNvSpPr/>
          <p:nvPr/>
        </p:nvSpPr>
        <p:spPr>
          <a:xfrm>
            <a:off x="9859299" y="1591649"/>
            <a:ext cx="1297858" cy="52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Registers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1D35CD-EE91-CB0A-CE52-CB2E7B89AA7F}"/>
              </a:ext>
            </a:extLst>
          </p:cNvPr>
          <p:cNvSpPr/>
          <p:nvPr/>
        </p:nvSpPr>
        <p:spPr>
          <a:xfrm>
            <a:off x="9859299" y="2524976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L1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50213-1336-AB29-5817-D142569E07E5}"/>
              </a:ext>
            </a:extLst>
          </p:cNvPr>
          <p:cNvSpPr/>
          <p:nvPr/>
        </p:nvSpPr>
        <p:spPr>
          <a:xfrm>
            <a:off x="9859299" y="3458303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L2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86134C-2209-1253-F8F6-53883B37E03B}"/>
              </a:ext>
            </a:extLst>
          </p:cNvPr>
          <p:cNvSpPr/>
          <p:nvPr/>
        </p:nvSpPr>
        <p:spPr>
          <a:xfrm>
            <a:off x="9859299" y="4391630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L3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E5F69A-8171-B7E5-936E-BB5B9177F905}"/>
              </a:ext>
            </a:extLst>
          </p:cNvPr>
          <p:cNvSpPr/>
          <p:nvPr/>
        </p:nvSpPr>
        <p:spPr>
          <a:xfrm>
            <a:off x="9859299" y="5324957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MEM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F10A1-3163-0F35-F45B-2EDD72AA67EC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0508228" y="3046080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9DDF2-D244-A13D-A942-B23115B5E36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508228" y="3979407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EFADB2-36BC-9A5E-7403-9E45F168EC55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10508228" y="4912734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6E66CB-A852-DEE3-52AB-E35AD317280C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10508228" y="2112753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4A2490C8-596F-E2EB-B786-3B0A246FE6A9}"/>
              </a:ext>
            </a:extLst>
          </p:cNvPr>
          <p:cNvSpPr txBox="1">
            <a:spLocks/>
          </p:cNvSpPr>
          <p:nvPr/>
        </p:nvSpPr>
        <p:spPr>
          <a:xfrm>
            <a:off x="8884183" y="1178982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 err="1"/>
              <a:t>Arithmetic</a:t>
            </a:r>
            <a:r>
              <a:rPr lang="de-DE" sz="1800" dirty="0"/>
              <a:t> : 2 cy/CL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F68E1A07-2A8C-B369-44B6-A97ABFDDAC7E}"/>
              </a:ext>
            </a:extLst>
          </p:cNvPr>
          <p:cNvSpPr txBox="1">
            <a:spLocks/>
          </p:cNvSpPr>
          <p:nvPr/>
        </p:nvSpPr>
        <p:spPr>
          <a:xfrm>
            <a:off x="9533112" y="2136868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 cy/CL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E801CFE0-D177-32A9-C7E0-22299ADA5248}"/>
              </a:ext>
            </a:extLst>
          </p:cNvPr>
          <p:cNvSpPr txBox="1">
            <a:spLocks/>
          </p:cNvSpPr>
          <p:nvPr/>
        </p:nvSpPr>
        <p:spPr>
          <a:xfrm>
            <a:off x="9528198" y="3066020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32 cy/CL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74291D3-3CF2-A4A6-C089-64AC114EFAC8}"/>
              </a:ext>
            </a:extLst>
          </p:cNvPr>
          <p:cNvSpPr txBox="1">
            <a:spLocks/>
          </p:cNvSpPr>
          <p:nvPr/>
        </p:nvSpPr>
        <p:spPr>
          <a:xfrm>
            <a:off x="9528197" y="4009917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64 cy/CL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C1E3C0D-E446-5121-C40F-2A193DD61BB0}"/>
              </a:ext>
            </a:extLst>
          </p:cNvPr>
          <p:cNvSpPr txBox="1">
            <a:spLocks/>
          </p:cNvSpPr>
          <p:nvPr/>
        </p:nvSpPr>
        <p:spPr>
          <a:xfrm>
            <a:off x="9538029" y="4934150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84 cy/CL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5BB57-F3B6-D441-9DA3-689BB16DCE5B}"/>
              </a:ext>
            </a:extLst>
          </p:cNvPr>
          <p:cNvSpPr/>
          <p:nvPr/>
        </p:nvSpPr>
        <p:spPr>
          <a:xfrm>
            <a:off x="7260140" y="1655383"/>
            <a:ext cx="1297858" cy="52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Registers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E9A861-C98E-A43F-5AA5-C6E6F3004BCE}"/>
              </a:ext>
            </a:extLst>
          </p:cNvPr>
          <p:cNvSpPr/>
          <p:nvPr/>
        </p:nvSpPr>
        <p:spPr>
          <a:xfrm>
            <a:off x="7260140" y="2588710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L1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0A32F8-5EF5-1953-0079-0CDBDC75A9F3}"/>
              </a:ext>
            </a:extLst>
          </p:cNvPr>
          <p:cNvSpPr/>
          <p:nvPr/>
        </p:nvSpPr>
        <p:spPr>
          <a:xfrm>
            <a:off x="7260140" y="3522037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L2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E3B938-35AE-92CD-F38A-66B4025A3B7C}"/>
              </a:ext>
            </a:extLst>
          </p:cNvPr>
          <p:cNvSpPr/>
          <p:nvPr/>
        </p:nvSpPr>
        <p:spPr>
          <a:xfrm>
            <a:off x="7260140" y="4455364"/>
            <a:ext cx="1297858" cy="521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MEM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12F1A8-E607-5A07-8255-E35734AE0770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7909069" y="3109814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C718B3-5D2A-0680-554A-20C38EE02EB8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7909069" y="4043141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AB3E8C-8840-7E09-5186-0A1520F2FB21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7909069" y="2176487"/>
            <a:ext cx="0" cy="4122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ED2BE781-E19A-D25B-4709-1816381EE10B}"/>
              </a:ext>
            </a:extLst>
          </p:cNvPr>
          <p:cNvSpPr txBox="1">
            <a:spLocks/>
          </p:cNvSpPr>
          <p:nvPr/>
        </p:nvSpPr>
        <p:spPr>
          <a:xfrm>
            <a:off x="6285024" y="124271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 err="1"/>
              <a:t>Arithmetic</a:t>
            </a:r>
            <a:r>
              <a:rPr lang="de-DE" sz="1800" dirty="0"/>
              <a:t> : 2 cy/CL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CA4CF12-D868-7461-7DD9-EEDA6F4F301C}"/>
              </a:ext>
            </a:extLst>
          </p:cNvPr>
          <p:cNvSpPr txBox="1">
            <a:spLocks/>
          </p:cNvSpPr>
          <p:nvPr/>
        </p:nvSpPr>
        <p:spPr>
          <a:xfrm>
            <a:off x="6933953" y="2171042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 cy/CL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50B73DA-C9E8-3A02-34A9-2A0170AFFC9E}"/>
              </a:ext>
            </a:extLst>
          </p:cNvPr>
          <p:cNvSpPr txBox="1">
            <a:spLocks/>
          </p:cNvSpPr>
          <p:nvPr/>
        </p:nvSpPr>
        <p:spPr>
          <a:xfrm>
            <a:off x="6933952" y="313057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 cy/CL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7C4182B-2D88-FA49-652D-898343237C28}"/>
              </a:ext>
            </a:extLst>
          </p:cNvPr>
          <p:cNvSpPr txBox="1">
            <a:spLocks/>
          </p:cNvSpPr>
          <p:nvPr/>
        </p:nvSpPr>
        <p:spPr>
          <a:xfrm>
            <a:off x="6933951" y="4063785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8 cy/CL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1C84ED64-6CDC-382E-9037-4D7C49CF66BA}"/>
              </a:ext>
            </a:extLst>
          </p:cNvPr>
          <p:cNvSpPr txBox="1">
            <a:spLocks/>
          </p:cNvSpPr>
          <p:nvPr/>
        </p:nvSpPr>
        <p:spPr>
          <a:xfrm>
            <a:off x="8746532" y="5869876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ECM Model </a:t>
            </a:r>
            <a:r>
              <a:rPr lang="de-DE" sz="1800" dirty="0" err="1"/>
              <a:t>for</a:t>
            </a:r>
            <a:r>
              <a:rPr lang="de-DE" sz="1800" dirty="0"/>
              <a:t> 8360Y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771EF0-3591-D38E-E78E-B401333ECDC3}"/>
              </a:ext>
            </a:extLst>
          </p:cNvPr>
          <p:cNvSpPr txBox="1">
            <a:spLocks/>
          </p:cNvSpPr>
          <p:nvPr/>
        </p:nvSpPr>
        <p:spPr>
          <a:xfrm>
            <a:off x="6289940" y="5097902"/>
            <a:ext cx="3248089" cy="3738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1800" dirty="0"/>
              <a:t>ECM Model </a:t>
            </a:r>
            <a:r>
              <a:rPr lang="de-DE" sz="1800" dirty="0" err="1"/>
              <a:t>for</a:t>
            </a:r>
            <a:r>
              <a:rPr lang="de-DE" sz="1800" dirty="0"/>
              <a:t> A64FX</a:t>
            </a:r>
          </a:p>
          <a:p>
            <a:pPr algn="ctr"/>
            <a:r>
              <a:rPr lang="de-DE" sz="1800" dirty="0"/>
              <a:t>FX1000</a:t>
            </a:r>
          </a:p>
        </p:txBody>
      </p:sp>
    </p:spTree>
    <p:extLst>
      <p:ext uri="{BB962C8B-B14F-4D97-AF65-F5344CB8AC3E}">
        <p14:creationId xmlns:p14="http://schemas.microsoft.com/office/powerpoint/2010/main" val="2060782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HEAT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on Wisteria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29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634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Performance Analysis – HEAT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 on Wisteria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30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120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Blank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31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174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41C-2EB9-B777-28D3-7F1A76CC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331"/>
            <a:ext cx="12192000" cy="1072673"/>
          </a:xfrm>
        </p:spPr>
        <p:txBody>
          <a:bodyPr>
            <a:normAutofit/>
          </a:bodyPr>
          <a:lstStyle/>
          <a:p>
            <a:pPr algn="ctr"/>
            <a:r>
              <a:rPr lang="de-DE" sz="4000" dirty="0">
                <a:solidFill>
                  <a:schemeClr val="accent5">
                    <a:lumMod val="75000"/>
                  </a:schemeClr>
                </a:solidFill>
              </a:rPr>
              <a:t>Future </a:t>
            </a:r>
            <a:r>
              <a:rPr lang="de-DE" sz="4000" dirty="0" err="1">
                <a:solidFill>
                  <a:schemeClr val="accent5">
                    <a:lumMod val="75000"/>
                  </a:schemeClr>
                </a:solidFill>
              </a:rPr>
              <a:t>work</a:t>
            </a:r>
            <a:endParaRPr lang="de-DE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5D0A-ED8F-0880-9FA7-A5B4941F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DisCostiC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BED4E9-7B74-4EE2-953E-75B596F1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E478D-9561-4C4E-917C-DA2D35FD197D}" type="slidenum">
              <a:rPr lang="de-DE" smtClean="0"/>
              <a:t>32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8FE49A-CB68-387E-C62E-08C6E8447F7D}"/>
              </a:ext>
            </a:extLst>
          </p:cNvPr>
          <p:cNvCxnSpPr/>
          <p:nvPr/>
        </p:nvCxnSpPr>
        <p:spPr>
          <a:xfrm>
            <a:off x="111967" y="6375012"/>
            <a:ext cx="1198050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920692-B7E7-2BE6-CF6A-3C184A647828}"/>
              </a:ext>
            </a:extLst>
          </p:cNvPr>
          <p:cNvCxnSpPr/>
          <p:nvPr/>
        </p:nvCxnSpPr>
        <p:spPr>
          <a:xfrm>
            <a:off x="111967" y="901053"/>
            <a:ext cx="119805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145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1214</Words>
  <Application>Microsoft Office PowerPoint</Application>
  <PresentationFormat>Widescreen</PresentationFormat>
  <Paragraphs>302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CMS</vt:lpstr>
      <vt:lpstr>Consolas</vt:lpstr>
      <vt:lpstr>Office Theme</vt:lpstr>
      <vt:lpstr>Extending a Simulation Framework for Performance Assessment of Parallel Applications</vt:lpstr>
      <vt:lpstr>Objectives</vt:lpstr>
      <vt:lpstr>Motivation</vt:lpstr>
      <vt:lpstr>DisCostiC</vt:lpstr>
      <vt:lpstr>Framework Design</vt:lpstr>
      <vt:lpstr>Static Analysis</vt:lpstr>
      <vt:lpstr>Execution Modes</vt:lpstr>
      <vt:lpstr>Execution Modes</vt:lpstr>
      <vt:lpstr>Execution Modes</vt:lpstr>
      <vt:lpstr>Execution Modes</vt:lpstr>
      <vt:lpstr>Execution Modes</vt:lpstr>
      <vt:lpstr>Framework modifications – User feasibility</vt:lpstr>
      <vt:lpstr>Framework modifications – User feasibility</vt:lpstr>
      <vt:lpstr>Framework modifications – Simulation Efficiency</vt:lpstr>
      <vt:lpstr>Framework modifications – Simulation Accuracy</vt:lpstr>
      <vt:lpstr>Framework portability – Heterogenous systems</vt:lpstr>
      <vt:lpstr>Testbed for Performance Analysis – Fritz &amp; Meggie</vt:lpstr>
      <vt:lpstr>Testbed for Performance Analysis - Wisteria</vt:lpstr>
      <vt:lpstr>Performance Analysis – SOR kernel</vt:lpstr>
      <vt:lpstr>Performance Analysis – SOR kernel</vt:lpstr>
      <vt:lpstr>Performance Analysis – SOR kernel</vt:lpstr>
      <vt:lpstr>Performance Analysis – SOR kernel</vt:lpstr>
      <vt:lpstr>Performance Analysis – STREAM kernel</vt:lpstr>
      <vt:lpstr>Performance Analysis – STREAM kernel</vt:lpstr>
      <vt:lpstr>Performance Analysis – STREAM kernel</vt:lpstr>
      <vt:lpstr>Performance Analysis – STREAM kernel</vt:lpstr>
      <vt:lpstr>Performance Analysis – HEAT kernel on Wisteria</vt:lpstr>
      <vt:lpstr>Performance Analysis – HEAT kernel on Wisteria</vt:lpstr>
      <vt:lpstr>Performance Analysis – HEAT kernel on Wisteria</vt:lpstr>
      <vt:lpstr>Performance Analysis – HEAT kernel on Wisteria</vt:lpstr>
      <vt:lpstr>Blank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Monte Carlo </dc:title>
  <dc:creator>Ujeniya, Aditya</dc:creator>
  <cp:lastModifiedBy>Ujeniya, Aditya</cp:lastModifiedBy>
  <cp:revision>960</cp:revision>
  <dcterms:created xsi:type="dcterms:W3CDTF">2022-10-31T20:07:05Z</dcterms:created>
  <dcterms:modified xsi:type="dcterms:W3CDTF">2023-11-26T23:49:05Z</dcterms:modified>
</cp:coreProperties>
</file>